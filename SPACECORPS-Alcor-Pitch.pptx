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0A0F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73152" cy="6858000"/>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457200" y="3291840"/>
            <a:ext cx="5029200" cy="27432"/>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1463040"/>
            <a:ext cx="8229600" cy="1097280"/>
          </a:xfrm>
          <a:prstGeom prst="rect">
            <a:avLst/>
          </a:prstGeom>
          <a:noFill/>
        </p:spPr>
        <p:txBody>
          <a:bodyPr wrap="square">
            <a:spAutoFit/>
          </a:bodyPr>
          <a:lstStyle/>
          <a:p>
            <a:pPr algn="l"/>
            <a:r>
              <a:rPr sz="6400" b="1" i="0">
                <a:solidFill>
                  <a:srgbClr val="FFFFFF"/>
                </a:solidFill>
              </a:rPr>
              <a:t>SPACE CORPS</a:t>
            </a:r>
          </a:p>
        </p:txBody>
      </p:sp>
      <p:sp>
        <p:nvSpPr>
          <p:cNvPr id="6" name="TextBox 5"/>
          <p:cNvSpPr txBox="1"/>
          <p:nvPr/>
        </p:nvSpPr>
        <p:spPr>
          <a:xfrm>
            <a:off x="548640" y="2651760"/>
            <a:ext cx="8229600" cy="640080"/>
          </a:xfrm>
          <a:prstGeom prst="rect">
            <a:avLst/>
          </a:prstGeom>
          <a:noFill/>
        </p:spPr>
        <p:txBody>
          <a:bodyPr wrap="square">
            <a:spAutoFit/>
          </a:bodyPr>
          <a:lstStyle/>
          <a:p>
            <a:pPr algn="l"/>
            <a:r>
              <a:rPr sz="2600" b="0" i="0">
                <a:solidFill>
                  <a:srgbClr val="C9A84C"/>
                </a:solidFill>
              </a:rPr>
              <a:t>Orbital Cryogenic Preservation</a:t>
            </a:r>
          </a:p>
        </p:txBody>
      </p:sp>
      <p:sp>
        <p:nvSpPr>
          <p:cNvPr id="7" name="TextBox 6"/>
          <p:cNvSpPr txBox="1"/>
          <p:nvPr/>
        </p:nvSpPr>
        <p:spPr>
          <a:xfrm>
            <a:off x="548640" y="3429000"/>
            <a:ext cx="8229600" cy="548640"/>
          </a:xfrm>
          <a:prstGeom prst="rect">
            <a:avLst/>
          </a:prstGeom>
          <a:noFill/>
        </p:spPr>
        <p:txBody>
          <a:bodyPr wrap="square">
            <a:spAutoFit/>
          </a:bodyPr>
          <a:lstStyle/>
          <a:p>
            <a:pPr algn="l"/>
            <a:r>
              <a:rPr sz="1600" b="0" i="1">
                <a:solidFill>
                  <a:srgbClr val="D0D0D0"/>
                </a:solidFill>
              </a:rPr>
              <a:t>A Partnership Proposal for Alcor Life Extension Foundation</a:t>
            </a:r>
          </a:p>
        </p:txBody>
      </p:sp>
      <p:sp>
        <p:nvSpPr>
          <p:cNvPr id="8" name="TextBox 7"/>
          <p:cNvSpPr txBox="1"/>
          <p:nvPr/>
        </p:nvSpPr>
        <p:spPr>
          <a:xfrm>
            <a:off x="548640" y="6217920"/>
            <a:ext cx="7315200" cy="365760"/>
          </a:xfrm>
          <a:prstGeom prst="rect">
            <a:avLst/>
          </a:prstGeom>
          <a:noFill/>
        </p:spPr>
        <p:txBody>
          <a:bodyPr wrap="square">
            <a:spAutoFit/>
          </a:bodyPr>
          <a:lstStyle/>
          <a:p>
            <a:pPr algn="l"/>
            <a:r>
              <a:rPr sz="1000" b="0" i="0">
                <a:solidFill>
                  <a:srgbClr val="888899"/>
                </a:solidFill>
              </a:rPr>
              <a:t>Confidential  |  May 2026  |  Concept Stage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0A0F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73152" cy="6858000"/>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548640" y="1051560"/>
            <a:ext cx="11064240" cy="36576"/>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247120" y="6492240"/>
            <a:ext cx="731520" cy="274320"/>
          </a:xfrm>
          <a:prstGeom prst="rect">
            <a:avLst/>
          </a:prstGeom>
          <a:noFill/>
        </p:spPr>
        <p:txBody>
          <a:bodyPr wrap="square">
            <a:spAutoFit/>
          </a:bodyPr>
          <a:lstStyle/>
          <a:p>
            <a:pPr algn="r"/>
            <a:r>
              <a:rPr sz="900" b="0" i="0">
                <a:solidFill>
                  <a:srgbClr val="888899"/>
                </a:solidFill>
              </a:rPr>
              <a:t>2 / 12</a:t>
            </a:r>
          </a:p>
        </p:txBody>
      </p:sp>
      <p:sp>
        <p:nvSpPr>
          <p:cNvPr id="6" name="TextBox 5"/>
          <p:cNvSpPr txBox="1"/>
          <p:nvPr/>
        </p:nvSpPr>
        <p:spPr>
          <a:xfrm>
            <a:off x="548640" y="6492240"/>
            <a:ext cx="5486400" cy="274320"/>
          </a:xfrm>
          <a:prstGeom prst="rect">
            <a:avLst/>
          </a:prstGeom>
          <a:noFill/>
        </p:spPr>
        <p:txBody>
          <a:bodyPr wrap="square">
            <a:spAutoFit/>
          </a:bodyPr>
          <a:lstStyle/>
          <a:p>
            <a:pPr algn="l"/>
            <a:r>
              <a:rPr sz="900" b="0" i="0">
                <a:solidFill>
                  <a:srgbClr val="888899"/>
                </a:solidFill>
              </a:rPr>
              <a:t>SPACE CORPS  |  BEYOND EARTH</a:t>
            </a:r>
          </a:p>
        </p:txBody>
      </p:sp>
      <p:sp>
        <p:nvSpPr>
          <p:cNvPr id="7" name="TextBox 6"/>
          <p:cNvSpPr txBox="1"/>
          <p:nvPr/>
        </p:nvSpPr>
        <p:spPr>
          <a:xfrm>
            <a:off x="548640" y="274320"/>
            <a:ext cx="10972800" cy="731520"/>
          </a:xfrm>
          <a:prstGeom prst="rect">
            <a:avLst/>
          </a:prstGeom>
          <a:noFill/>
        </p:spPr>
        <p:txBody>
          <a:bodyPr wrap="square">
            <a:spAutoFit/>
          </a:bodyPr>
          <a:lstStyle/>
          <a:p>
            <a:pPr algn="l"/>
            <a:r>
              <a:rPr sz="3200" b="1" i="0">
                <a:solidFill>
                  <a:srgbClr val="FFFFFF"/>
                </a:solidFill>
              </a:rPr>
              <a:t>The Single Biggest Risk in Cryonics</a:t>
            </a:r>
          </a:p>
        </p:txBody>
      </p:sp>
      <p:sp>
        <p:nvSpPr>
          <p:cNvPr id="8" name="TextBox 7"/>
          <p:cNvSpPr txBox="1"/>
          <p:nvPr/>
        </p:nvSpPr>
        <p:spPr>
          <a:xfrm>
            <a:off x="548640" y="1097280"/>
            <a:ext cx="10972800" cy="457200"/>
          </a:xfrm>
          <a:prstGeom prst="rect">
            <a:avLst/>
          </a:prstGeom>
          <a:noFill/>
        </p:spPr>
        <p:txBody>
          <a:bodyPr wrap="square">
            <a:spAutoFit/>
          </a:bodyPr>
          <a:lstStyle/>
          <a:p>
            <a:pPr algn="l"/>
            <a:r>
              <a:rPr sz="2000" b="0" i="1">
                <a:solidFill>
                  <a:srgbClr val="C9A84C"/>
                </a:solidFill>
              </a:rPr>
              <a:t>Is not the science. It is time.</a:t>
            </a:r>
          </a:p>
        </p:txBody>
      </p:sp>
      <p:sp>
        <p:nvSpPr>
          <p:cNvPr id="9" name="Rectangle 8"/>
          <p:cNvSpPr/>
          <p:nvPr/>
        </p:nvSpPr>
        <p:spPr>
          <a:xfrm>
            <a:off x="548640" y="1691640"/>
            <a:ext cx="54864" cy="594360"/>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77240" y="1691640"/>
            <a:ext cx="3108960" cy="365760"/>
          </a:xfrm>
          <a:prstGeom prst="rect">
            <a:avLst/>
          </a:prstGeom>
          <a:noFill/>
        </p:spPr>
        <p:txBody>
          <a:bodyPr wrap="square">
            <a:spAutoFit/>
          </a:bodyPr>
          <a:lstStyle/>
          <a:p>
            <a:pPr algn="l"/>
            <a:r>
              <a:rPr sz="1300" b="1" i="0">
                <a:solidFill>
                  <a:srgbClr val="C9A84C"/>
                </a:solidFill>
              </a:rPr>
              <a:t>Organizational Risk</a:t>
            </a:r>
          </a:p>
        </p:txBody>
      </p:sp>
      <p:sp>
        <p:nvSpPr>
          <p:cNvPr id="11" name="TextBox 10"/>
          <p:cNvSpPr txBox="1"/>
          <p:nvPr/>
        </p:nvSpPr>
        <p:spPr>
          <a:xfrm>
            <a:off x="777240" y="2011680"/>
            <a:ext cx="10058400" cy="365760"/>
          </a:xfrm>
          <a:prstGeom prst="rect">
            <a:avLst/>
          </a:prstGeom>
          <a:noFill/>
        </p:spPr>
        <p:txBody>
          <a:bodyPr wrap="square">
            <a:spAutoFit/>
          </a:bodyPr>
          <a:lstStyle/>
          <a:p>
            <a:pPr algn="l"/>
            <a:r>
              <a:rPr sz="1200" b="0" i="0">
                <a:solidFill>
                  <a:srgbClr val="D0D0D0"/>
                </a:solidFill>
              </a:rPr>
              <a:t>Alcor must survive 100 to 500 years to fulfill its promise</a:t>
            </a:r>
          </a:p>
        </p:txBody>
      </p:sp>
      <p:sp>
        <p:nvSpPr>
          <p:cNvPr id="12" name="Rectangle 11"/>
          <p:cNvSpPr/>
          <p:nvPr/>
        </p:nvSpPr>
        <p:spPr>
          <a:xfrm>
            <a:off x="548640" y="2560320"/>
            <a:ext cx="54864" cy="594360"/>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77240" y="2560320"/>
            <a:ext cx="3108960" cy="365760"/>
          </a:xfrm>
          <a:prstGeom prst="rect">
            <a:avLst/>
          </a:prstGeom>
          <a:noFill/>
        </p:spPr>
        <p:txBody>
          <a:bodyPr wrap="square">
            <a:spAutoFit/>
          </a:bodyPr>
          <a:lstStyle/>
          <a:p>
            <a:pPr algn="l"/>
            <a:r>
              <a:rPr sz="1300" b="1" i="0">
                <a:solidFill>
                  <a:srgbClr val="C9A84C"/>
                </a:solidFill>
              </a:rPr>
              <a:t>Funding Risk</a:t>
            </a:r>
          </a:p>
        </p:txBody>
      </p:sp>
      <p:sp>
        <p:nvSpPr>
          <p:cNvPr id="14" name="TextBox 13"/>
          <p:cNvSpPr txBox="1"/>
          <p:nvPr/>
        </p:nvSpPr>
        <p:spPr>
          <a:xfrm>
            <a:off x="777240" y="2880360"/>
            <a:ext cx="10058400" cy="365760"/>
          </a:xfrm>
          <a:prstGeom prst="rect">
            <a:avLst/>
          </a:prstGeom>
          <a:noFill/>
        </p:spPr>
        <p:txBody>
          <a:bodyPr wrap="square">
            <a:spAutoFit/>
          </a:bodyPr>
          <a:lstStyle/>
          <a:p>
            <a:pPr algn="l"/>
            <a:r>
              <a:rPr sz="1200" b="0" i="0">
                <a:solidFill>
                  <a:srgbClr val="D0D0D0"/>
                </a:solidFill>
              </a:rPr>
              <a:t>LN2 supply, facility costs, and staff salaries must continue indefinitely</a:t>
            </a:r>
          </a:p>
        </p:txBody>
      </p:sp>
      <p:sp>
        <p:nvSpPr>
          <p:cNvPr id="15" name="Rectangle 14"/>
          <p:cNvSpPr/>
          <p:nvPr/>
        </p:nvSpPr>
        <p:spPr>
          <a:xfrm>
            <a:off x="548640" y="3429000"/>
            <a:ext cx="54864" cy="594360"/>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77240" y="3429000"/>
            <a:ext cx="3108960" cy="365760"/>
          </a:xfrm>
          <a:prstGeom prst="rect">
            <a:avLst/>
          </a:prstGeom>
          <a:noFill/>
        </p:spPr>
        <p:txBody>
          <a:bodyPr wrap="square">
            <a:spAutoFit/>
          </a:bodyPr>
          <a:lstStyle/>
          <a:p>
            <a:pPr algn="l"/>
            <a:r>
              <a:rPr sz="1300" b="1" i="0">
                <a:solidFill>
                  <a:srgbClr val="C9A84C"/>
                </a:solidFill>
              </a:rPr>
              <a:t>Geographic Risk</a:t>
            </a:r>
          </a:p>
        </p:txBody>
      </p:sp>
      <p:sp>
        <p:nvSpPr>
          <p:cNvPr id="17" name="TextBox 16"/>
          <p:cNvSpPr txBox="1"/>
          <p:nvPr/>
        </p:nvSpPr>
        <p:spPr>
          <a:xfrm>
            <a:off x="777240" y="3749039"/>
            <a:ext cx="10058400" cy="365760"/>
          </a:xfrm>
          <a:prstGeom prst="rect">
            <a:avLst/>
          </a:prstGeom>
          <a:noFill/>
        </p:spPr>
        <p:txBody>
          <a:bodyPr wrap="square">
            <a:spAutoFit/>
          </a:bodyPr>
          <a:lstStyle/>
          <a:p>
            <a:pPr algn="l"/>
            <a:r>
              <a:rPr sz="1200" b="0" i="0">
                <a:solidFill>
                  <a:srgbClr val="D0D0D0"/>
                </a:solidFill>
              </a:rPr>
              <a:t>A single facility in Arizona holds 230 plus patients</a:t>
            </a:r>
          </a:p>
        </p:txBody>
      </p:sp>
      <p:sp>
        <p:nvSpPr>
          <p:cNvPr id="18" name="Rectangle 17"/>
          <p:cNvSpPr/>
          <p:nvPr/>
        </p:nvSpPr>
        <p:spPr>
          <a:xfrm>
            <a:off x="548640" y="4297679"/>
            <a:ext cx="54864" cy="594360"/>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77240" y="4297679"/>
            <a:ext cx="3108960" cy="365760"/>
          </a:xfrm>
          <a:prstGeom prst="rect">
            <a:avLst/>
          </a:prstGeom>
          <a:noFill/>
        </p:spPr>
        <p:txBody>
          <a:bodyPr wrap="square">
            <a:spAutoFit/>
          </a:bodyPr>
          <a:lstStyle/>
          <a:p>
            <a:pPr algn="l"/>
            <a:r>
              <a:rPr sz="1300" b="1" i="0">
                <a:solidFill>
                  <a:srgbClr val="C9A84C"/>
                </a:solidFill>
              </a:rPr>
              <a:t>Regulatory Risk</a:t>
            </a:r>
          </a:p>
        </p:txBody>
      </p:sp>
      <p:sp>
        <p:nvSpPr>
          <p:cNvPr id="20" name="TextBox 19"/>
          <p:cNvSpPr txBox="1"/>
          <p:nvPr/>
        </p:nvSpPr>
        <p:spPr>
          <a:xfrm>
            <a:off x="777240" y="4617719"/>
            <a:ext cx="10058400" cy="365760"/>
          </a:xfrm>
          <a:prstGeom prst="rect">
            <a:avLst/>
          </a:prstGeom>
          <a:noFill/>
        </p:spPr>
        <p:txBody>
          <a:bodyPr wrap="square">
            <a:spAutoFit/>
          </a:bodyPr>
          <a:lstStyle/>
          <a:p>
            <a:pPr algn="l"/>
            <a:r>
              <a:rPr sz="1200" b="0" i="0">
                <a:solidFill>
                  <a:srgbClr val="D0D0D0"/>
                </a:solidFill>
              </a:rPr>
              <a:t>Future governments could mandate burial or destroy preserved patients</a:t>
            </a:r>
          </a:p>
        </p:txBody>
      </p:sp>
      <p:sp>
        <p:nvSpPr>
          <p:cNvPr id="21" name="Rectangle 20"/>
          <p:cNvSpPr/>
          <p:nvPr/>
        </p:nvSpPr>
        <p:spPr>
          <a:xfrm>
            <a:off x="548640" y="5166360"/>
            <a:ext cx="54864" cy="594360"/>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77240" y="5166360"/>
            <a:ext cx="3108960" cy="365760"/>
          </a:xfrm>
          <a:prstGeom prst="rect">
            <a:avLst/>
          </a:prstGeom>
          <a:noFill/>
        </p:spPr>
        <p:txBody>
          <a:bodyPr wrap="square">
            <a:spAutoFit/>
          </a:bodyPr>
          <a:lstStyle/>
          <a:p>
            <a:pPr algn="l"/>
            <a:r>
              <a:rPr sz="1300" b="1" i="0">
                <a:solidFill>
                  <a:srgbClr val="C9A84C"/>
                </a:solidFill>
              </a:rPr>
              <a:t>Jurisdiction Risk</a:t>
            </a:r>
          </a:p>
        </p:txBody>
      </p:sp>
      <p:sp>
        <p:nvSpPr>
          <p:cNvPr id="23" name="TextBox 22"/>
          <p:cNvSpPr txBox="1"/>
          <p:nvPr/>
        </p:nvSpPr>
        <p:spPr>
          <a:xfrm>
            <a:off x="777240" y="5486400"/>
            <a:ext cx="10058400" cy="365760"/>
          </a:xfrm>
          <a:prstGeom prst="rect">
            <a:avLst/>
          </a:prstGeom>
          <a:noFill/>
        </p:spPr>
        <p:txBody>
          <a:bodyPr wrap="square">
            <a:spAutoFit/>
          </a:bodyPr>
          <a:lstStyle/>
          <a:p>
            <a:pPr algn="l"/>
            <a:r>
              <a:rPr sz="1200" b="0" i="0">
                <a:solidFill>
                  <a:srgbClr val="D0D0D0"/>
                </a:solidFill>
              </a:rPr>
              <a:t>US courts can compel access, freeze assets, or override member wishes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0A0F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73152" cy="6858000"/>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548640" y="1051560"/>
            <a:ext cx="11064240" cy="36576"/>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247120" y="6492240"/>
            <a:ext cx="731520" cy="274320"/>
          </a:xfrm>
          <a:prstGeom prst="rect">
            <a:avLst/>
          </a:prstGeom>
          <a:noFill/>
        </p:spPr>
        <p:txBody>
          <a:bodyPr wrap="square">
            <a:spAutoFit/>
          </a:bodyPr>
          <a:lstStyle/>
          <a:p>
            <a:pPr algn="r"/>
            <a:r>
              <a:rPr sz="900" b="0" i="0">
                <a:solidFill>
                  <a:srgbClr val="888899"/>
                </a:solidFill>
              </a:rPr>
              <a:t>3 / 12</a:t>
            </a:r>
          </a:p>
        </p:txBody>
      </p:sp>
      <p:sp>
        <p:nvSpPr>
          <p:cNvPr id="6" name="TextBox 5"/>
          <p:cNvSpPr txBox="1"/>
          <p:nvPr/>
        </p:nvSpPr>
        <p:spPr>
          <a:xfrm>
            <a:off x="548640" y="6492240"/>
            <a:ext cx="5486400" cy="274320"/>
          </a:xfrm>
          <a:prstGeom prst="rect">
            <a:avLst/>
          </a:prstGeom>
          <a:noFill/>
        </p:spPr>
        <p:txBody>
          <a:bodyPr wrap="square">
            <a:spAutoFit/>
          </a:bodyPr>
          <a:lstStyle/>
          <a:p>
            <a:pPr algn="l"/>
            <a:r>
              <a:rPr sz="900" b="0" i="0">
                <a:solidFill>
                  <a:srgbClr val="888899"/>
                </a:solidFill>
              </a:rPr>
              <a:t>SPACE CORPS  |  BEYOND EARTH</a:t>
            </a:r>
          </a:p>
        </p:txBody>
      </p:sp>
      <p:sp>
        <p:nvSpPr>
          <p:cNvPr id="7" name="TextBox 6"/>
          <p:cNvSpPr txBox="1"/>
          <p:nvPr/>
        </p:nvSpPr>
        <p:spPr>
          <a:xfrm>
            <a:off x="548640" y="274320"/>
            <a:ext cx="10972800" cy="731520"/>
          </a:xfrm>
          <a:prstGeom prst="rect">
            <a:avLst/>
          </a:prstGeom>
          <a:noFill/>
        </p:spPr>
        <p:txBody>
          <a:bodyPr wrap="square">
            <a:spAutoFit/>
          </a:bodyPr>
          <a:lstStyle/>
          <a:p>
            <a:pPr algn="l"/>
            <a:r>
              <a:rPr sz="3000" b="1" i="0">
                <a:solidFill>
                  <a:srgbClr val="FFFFFF"/>
                </a:solidFill>
              </a:rPr>
              <a:t>What If Alcor Could Offer Something No One Else Can?</a:t>
            </a:r>
          </a:p>
        </p:txBody>
      </p:sp>
      <p:sp>
        <p:nvSpPr>
          <p:cNvPr id="8" name="TextBox 7"/>
          <p:cNvSpPr txBox="1"/>
          <p:nvPr/>
        </p:nvSpPr>
        <p:spPr>
          <a:xfrm>
            <a:off x="548640" y="1097280"/>
            <a:ext cx="10972800" cy="457200"/>
          </a:xfrm>
          <a:prstGeom prst="rect">
            <a:avLst/>
          </a:prstGeom>
          <a:noFill/>
        </p:spPr>
        <p:txBody>
          <a:bodyPr wrap="square">
            <a:spAutoFit/>
          </a:bodyPr>
          <a:lstStyle/>
          <a:p>
            <a:pPr algn="l"/>
            <a:r>
              <a:rPr sz="1800" b="0" i="1">
                <a:solidFill>
                  <a:srgbClr val="C9A84C"/>
                </a:solidFill>
              </a:rPr>
              <a:t>Orbital preservation: self sustaining, jurisdiction free, and permanent.</a:t>
            </a:r>
          </a:p>
        </p:txBody>
      </p:sp>
      <p:sp>
        <p:nvSpPr>
          <p:cNvPr id="9" name="Rectangle 8"/>
          <p:cNvSpPr/>
          <p:nvPr/>
        </p:nvSpPr>
        <p:spPr>
          <a:xfrm>
            <a:off x="548640" y="1828800"/>
            <a:ext cx="5212080" cy="4389120"/>
          </a:xfrm>
          <a:prstGeom prst="rect">
            <a:avLst/>
          </a:prstGeom>
          <a:solidFill>
            <a:srgbClr val="1218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31520" y="1920240"/>
            <a:ext cx="4846320" cy="457200"/>
          </a:xfrm>
          <a:prstGeom prst="rect">
            <a:avLst/>
          </a:prstGeom>
          <a:noFill/>
        </p:spPr>
        <p:txBody>
          <a:bodyPr wrap="square">
            <a:spAutoFit/>
          </a:bodyPr>
          <a:lstStyle/>
          <a:p>
            <a:pPr algn="ctr"/>
            <a:r>
              <a:rPr sz="1400" b="1" i="0">
                <a:solidFill>
                  <a:srgbClr val="D0D0D0"/>
                </a:solidFill>
              </a:rPr>
              <a:t>GROUND STORAGE (Today)</a:t>
            </a:r>
          </a:p>
        </p:txBody>
      </p:sp>
      <p:sp>
        <p:nvSpPr>
          <p:cNvPr id="11" name="TextBox 10"/>
          <p:cNvSpPr txBox="1"/>
          <p:nvPr/>
        </p:nvSpPr>
        <p:spPr>
          <a:xfrm>
            <a:off x="731520" y="2468880"/>
            <a:ext cx="4846320" cy="457200"/>
          </a:xfrm>
          <a:prstGeom prst="rect">
            <a:avLst/>
          </a:prstGeom>
          <a:noFill/>
        </p:spPr>
        <p:txBody>
          <a:bodyPr wrap="square">
            <a:spAutoFit/>
          </a:bodyPr>
          <a:lstStyle/>
          <a:p>
            <a:pPr algn="l"/>
            <a:r>
              <a:rPr sz="1200" b="0" i="0">
                <a:solidFill>
                  <a:srgbClr val="D0D0D0"/>
                </a:solidFill>
              </a:rPr>
              <a:t>  x  Requires ongoing LN2 resupply</a:t>
            </a:r>
          </a:p>
        </p:txBody>
      </p:sp>
      <p:sp>
        <p:nvSpPr>
          <p:cNvPr id="12" name="TextBox 11"/>
          <p:cNvSpPr txBox="1"/>
          <p:nvPr/>
        </p:nvSpPr>
        <p:spPr>
          <a:xfrm>
            <a:off x="731520" y="3017520"/>
            <a:ext cx="4846320" cy="457200"/>
          </a:xfrm>
          <a:prstGeom prst="rect">
            <a:avLst/>
          </a:prstGeom>
          <a:noFill/>
        </p:spPr>
        <p:txBody>
          <a:bodyPr wrap="square">
            <a:spAutoFit/>
          </a:bodyPr>
          <a:lstStyle/>
          <a:p>
            <a:pPr algn="l"/>
            <a:r>
              <a:rPr sz="1200" b="0" i="0">
                <a:solidFill>
                  <a:srgbClr val="D0D0D0"/>
                </a:solidFill>
              </a:rPr>
              <a:t>  x  Dependent on Alcor's survival</a:t>
            </a:r>
          </a:p>
        </p:txBody>
      </p:sp>
      <p:sp>
        <p:nvSpPr>
          <p:cNvPr id="13" name="TextBox 12"/>
          <p:cNvSpPr txBox="1"/>
          <p:nvPr/>
        </p:nvSpPr>
        <p:spPr>
          <a:xfrm>
            <a:off x="731520" y="3566160"/>
            <a:ext cx="4846320" cy="457200"/>
          </a:xfrm>
          <a:prstGeom prst="rect">
            <a:avLst/>
          </a:prstGeom>
          <a:noFill/>
        </p:spPr>
        <p:txBody>
          <a:bodyPr wrap="square">
            <a:spAutoFit/>
          </a:bodyPr>
          <a:lstStyle/>
          <a:p>
            <a:pPr algn="l"/>
            <a:r>
              <a:rPr sz="1200" b="0" i="0">
                <a:solidFill>
                  <a:srgbClr val="D0D0D0"/>
                </a:solidFill>
              </a:rPr>
              <a:t>  x  Subject to US jurisdiction</a:t>
            </a:r>
          </a:p>
        </p:txBody>
      </p:sp>
      <p:sp>
        <p:nvSpPr>
          <p:cNvPr id="14" name="TextBox 13"/>
          <p:cNvSpPr txBox="1"/>
          <p:nvPr/>
        </p:nvSpPr>
        <p:spPr>
          <a:xfrm>
            <a:off x="731520" y="4114800"/>
            <a:ext cx="4846320" cy="457200"/>
          </a:xfrm>
          <a:prstGeom prst="rect">
            <a:avLst/>
          </a:prstGeom>
          <a:noFill/>
        </p:spPr>
        <p:txBody>
          <a:bodyPr wrap="square">
            <a:spAutoFit/>
          </a:bodyPr>
          <a:lstStyle/>
          <a:p>
            <a:pPr algn="l"/>
            <a:r>
              <a:rPr sz="1200" b="0" i="0">
                <a:solidFill>
                  <a:srgbClr val="D0D0D0"/>
                </a:solidFill>
              </a:rPr>
              <a:t>  x  Single geographic location</a:t>
            </a:r>
          </a:p>
        </p:txBody>
      </p:sp>
      <p:sp>
        <p:nvSpPr>
          <p:cNvPr id="15" name="TextBox 14"/>
          <p:cNvSpPr txBox="1"/>
          <p:nvPr/>
        </p:nvSpPr>
        <p:spPr>
          <a:xfrm>
            <a:off x="731520" y="4663440"/>
            <a:ext cx="4846320" cy="457200"/>
          </a:xfrm>
          <a:prstGeom prst="rect">
            <a:avLst/>
          </a:prstGeom>
          <a:noFill/>
        </p:spPr>
        <p:txBody>
          <a:bodyPr wrap="square">
            <a:spAutoFit/>
          </a:bodyPr>
          <a:lstStyle/>
          <a:p>
            <a:pPr algn="l"/>
            <a:r>
              <a:rPr sz="1200" b="0" i="0">
                <a:solidFill>
                  <a:srgbClr val="D0D0D0"/>
                </a:solidFill>
              </a:rPr>
              <a:t>  x  Vulnerable to regulatory change</a:t>
            </a:r>
          </a:p>
        </p:txBody>
      </p:sp>
      <p:sp>
        <p:nvSpPr>
          <p:cNvPr id="16" name="TextBox 15"/>
          <p:cNvSpPr txBox="1"/>
          <p:nvPr/>
        </p:nvSpPr>
        <p:spPr>
          <a:xfrm>
            <a:off x="731520" y="5212080"/>
            <a:ext cx="4846320" cy="457200"/>
          </a:xfrm>
          <a:prstGeom prst="rect">
            <a:avLst/>
          </a:prstGeom>
          <a:noFill/>
        </p:spPr>
        <p:txBody>
          <a:bodyPr wrap="square">
            <a:spAutoFit/>
          </a:bodyPr>
          <a:lstStyle/>
          <a:p>
            <a:pPr algn="l"/>
            <a:r>
              <a:rPr sz="1200" b="0" i="0">
                <a:solidFill>
                  <a:srgbClr val="D0D0D0"/>
                </a:solidFill>
              </a:rPr>
              <a:t>  x  Estimated cost: $80k to $220k</a:t>
            </a:r>
          </a:p>
        </p:txBody>
      </p:sp>
      <p:sp>
        <p:nvSpPr>
          <p:cNvPr id="17" name="Rectangle 16"/>
          <p:cNvSpPr/>
          <p:nvPr/>
        </p:nvSpPr>
        <p:spPr>
          <a:xfrm>
            <a:off x="6309360" y="1828800"/>
            <a:ext cx="5303520" cy="4389120"/>
          </a:xfrm>
          <a:prstGeom prst="rect">
            <a:avLst/>
          </a:prstGeom>
          <a:solidFill>
            <a:srgbClr val="0A20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92240" y="1920240"/>
            <a:ext cx="4937760" cy="457200"/>
          </a:xfrm>
          <a:prstGeom prst="rect">
            <a:avLst/>
          </a:prstGeom>
          <a:noFill/>
        </p:spPr>
        <p:txBody>
          <a:bodyPr wrap="square">
            <a:spAutoFit/>
          </a:bodyPr>
          <a:lstStyle/>
          <a:p>
            <a:pPr algn="ctr"/>
            <a:r>
              <a:rPr sz="1400" b="1" i="0">
                <a:solidFill>
                  <a:srgbClr val="C9A84C"/>
                </a:solidFill>
              </a:rPr>
              <a:t>SPACE CORPS (Proposed)</a:t>
            </a:r>
          </a:p>
        </p:txBody>
      </p:sp>
      <p:sp>
        <p:nvSpPr>
          <p:cNvPr id="19" name="TextBox 18"/>
          <p:cNvSpPr txBox="1"/>
          <p:nvPr/>
        </p:nvSpPr>
        <p:spPr>
          <a:xfrm>
            <a:off x="6492240" y="2468880"/>
            <a:ext cx="4937760" cy="457200"/>
          </a:xfrm>
          <a:prstGeom prst="rect">
            <a:avLst/>
          </a:prstGeom>
          <a:noFill/>
        </p:spPr>
        <p:txBody>
          <a:bodyPr wrap="square">
            <a:spAutoFit/>
          </a:bodyPr>
          <a:lstStyle/>
          <a:p>
            <a:pPr algn="l"/>
            <a:r>
              <a:rPr sz="1200" b="0" i="0">
                <a:solidFill>
                  <a:srgbClr val="FFFFFF"/>
                </a:solidFill>
              </a:rPr>
              <a:t>  +  Active solar powered cryocooler</a:t>
            </a:r>
          </a:p>
        </p:txBody>
      </p:sp>
      <p:sp>
        <p:nvSpPr>
          <p:cNvPr id="20" name="TextBox 19"/>
          <p:cNvSpPr txBox="1"/>
          <p:nvPr/>
        </p:nvSpPr>
        <p:spPr>
          <a:xfrm>
            <a:off x="6492240" y="3017520"/>
            <a:ext cx="4937760" cy="457200"/>
          </a:xfrm>
          <a:prstGeom prst="rect">
            <a:avLst/>
          </a:prstGeom>
          <a:noFill/>
        </p:spPr>
        <p:txBody>
          <a:bodyPr wrap="square">
            <a:spAutoFit/>
          </a:bodyPr>
          <a:lstStyle/>
          <a:p>
            <a:pPr algn="l"/>
            <a:r>
              <a:rPr sz="1200" b="0" i="0">
                <a:solidFill>
                  <a:srgbClr val="FFFFFF"/>
                </a:solidFill>
              </a:rPr>
              <a:t>  +  No organizational dependency</a:t>
            </a:r>
          </a:p>
        </p:txBody>
      </p:sp>
      <p:sp>
        <p:nvSpPr>
          <p:cNvPr id="21" name="TextBox 20"/>
          <p:cNvSpPr txBox="1"/>
          <p:nvPr/>
        </p:nvSpPr>
        <p:spPr>
          <a:xfrm>
            <a:off x="6492240" y="3566160"/>
            <a:ext cx="4937760" cy="457200"/>
          </a:xfrm>
          <a:prstGeom prst="rect">
            <a:avLst/>
          </a:prstGeom>
          <a:noFill/>
        </p:spPr>
        <p:txBody>
          <a:bodyPr wrap="square">
            <a:spAutoFit/>
          </a:bodyPr>
          <a:lstStyle/>
          <a:p>
            <a:pPr algn="l"/>
            <a:r>
              <a:rPr sz="1200" b="0" i="0">
                <a:solidFill>
                  <a:srgbClr val="FFFFFF"/>
                </a:solidFill>
              </a:rPr>
              <a:t>  +  Above all national jurisdiction</a:t>
            </a:r>
          </a:p>
        </p:txBody>
      </p:sp>
      <p:sp>
        <p:nvSpPr>
          <p:cNvPr id="22" name="TextBox 21"/>
          <p:cNvSpPr txBox="1"/>
          <p:nvPr/>
        </p:nvSpPr>
        <p:spPr>
          <a:xfrm>
            <a:off x="6492240" y="4114800"/>
            <a:ext cx="4937760" cy="457200"/>
          </a:xfrm>
          <a:prstGeom prst="rect">
            <a:avLst/>
          </a:prstGeom>
          <a:noFill/>
        </p:spPr>
        <p:txBody>
          <a:bodyPr wrap="square">
            <a:spAutoFit/>
          </a:bodyPr>
          <a:lstStyle/>
          <a:p>
            <a:pPr algn="l"/>
            <a:r>
              <a:rPr sz="1200" b="0" i="0">
                <a:solidFill>
                  <a:srgbClr val="FFFFFF"/>
                </a:solidFill>
              </a:rPr>
              <a:t>  +  Heliocentric orbit, truly permanent</a:t>
            </a:r>
          </a:p>
        </p:txBody>
      </p:sp>
      <p:sp>
        <p:nvSpPr>
          <p:cNvPr id="23" name="TextBox 22"/>
          <p:cNvSpPr txBox="1"/>
          <p:nvPr/>
        </p:nvSpPr>
        <p:spPr>
          <a:xfrm>
            <a:off x="6492240" y="4663440"/>
            <a:ext cx="4937760" cy="457200"/>
          </a:xfrm>
          <a:prstGeom prst="rect">
            <a:avLst/>
          </a:prstGeom>
          <a:noFill/>
        </p:spPr>
        <p:txBody>
          <a:bodyPr wrap="square">
            <a:spAutoFit/>
          </a:bodyPr>
          <a:lstStyle/>
          <a:p>
            <a:pPr algn="l"/>
            <a:r>
              <a:rPr sz="1200" b="0" i="0">
                <a:solidFill>
                  <a:srgbClr val="FFFFFF"/>
                </a:solidFill>
              </a:rPr>
              <a:t>  +  Immune to regulatory intervention</a:t>
            </a:r>
          </a:p>
        </p:txBody>
      </p:sp>
      <p:sp>
        <p:nvSpPr>
          <p:cNvPr id="24" name="TextBox 23"/>
          <p:cNvSpPr txBox="1"/>
          <p:nvPr/>
        </p:nvSpPr>
        <p:spPr>
          <a:xfrm>
            <a:off x="6492240" y="5212080"/>
            <a:ext cx="4937760" cy="457200"/>
          </a:xfrm>
          <a:prstGeom prst="rect">
            <a:avLst/>
          </a:prstGeom>
          <a:noFill/>
        </p:spPr>
        <p:txBody>
          <a:bodyPr wrap="square">
            <a:spAutoFit/>
          </a:bodyPr>
          <a:lstStyle/>
          <a:p>
            <a:pPr algn="l"/>
            <a:r>
              <a:rPr sz="1200" b="0" i="0">
                <a:solidFill>
                  <a:srgbClr val="FFFFFF"/>
                </a:solidFill>
              </a:rPr>
              <a:t>  +  Proposed: $195k to $750k</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0A0F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73152" cy="6858000"/>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548640" y="1051560"/>
            <a:ext cx="11064240" cy="36576"/>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247120" y="6492240"/>
            <a:ext cx="731520" cy="274320"/>
          </a:xfrm>
          <a:prstGeom prst="rect">
            <a:avLst/>
          </a:prstGeom>
          <a:noFill/>
        </p:spPr>
        <p:txBody>
          <a:bodyPr wrap="square">
            <a:spAutoFit/>
          </a:bodyPr>
          <a:lstStyle/>
          <a:p>
            <a:pPr algn="r"/>
            <a:r>
              <a:rPr sz="900" b="0" i="0">
                <a:solidFill>
                  <a:srgbClr val="888899"/>
                </a:solidFill>
              </a:rPr>
              <a:t>4 / 12</a:t>
            </a:r>
          </a:p>
        </p:txBody>
      </p:sp>
      <p:sp>
        <p:nvSpPr>
          <p:cNvPr id="6" name="TextBox 5"/>
          <p:cNvSpPr txBox="1"/>
          <p:nvPr/>
        </p:nvSpPr>
        <p:spPr>
          <a:xfrm>
            <a:off x="548640" y="6492240"/>
            <a:ext cx="5486400" cy="274320"/>
          </a:xfrm>
          <a:prstGeom prst="rect">
            <a:avLst/>
          </a:prstGeom>
          <a:noFill/>
        </p:spPr>
        <p:txBody>
          <a:bodyPr wrap="square">
            <a:spAutoFit/>
          </a:bodyPr>
          <a:lstStyle/>
          <a:p>
            <a:pPr algn="l"/>
            <a:r>
              <a:rPr sz="900" b="0" i="0">
                <a:solidFill>
                  <a:srgbClr val="888899"/>
                </a:solidFill>
              </a:rPr>
              <a:t>SPACE CORPS  |  BEYOND EARTH</a:t>
            </a:r>
          </a:p>
        </p:txBody>
      </p:sp>
      <p:sp>
        <p:nvSpPr>
          <p:cNvPr id="7" name="TextBox 6"/>
          <p:cNvSpPr txBox="1"/>
          <p:nvPr/>
        </p:nvSpPr>
        <p:spPr>
          <a:xfrm>
            <a:off x="548640" y="274320"/>
            <a:ext cx="10972800" cy="731520"/>
          </a:xfrm>
          <a:prstGeom prst="rect">
            <a:avLst/>
          </a:prstGeom>
          <a:noFill/>
        </p:spPr>
        <p:txBody>
          <a:bodyPr wrap="square">
            <a:spAutoFit/>
          </a:bodyPr>
          <a:lstStyle/>
          <a:p>
            <a:pPr algn="l"/>
            <a:r>
              <a:rPr sz="3200" b="1" i="0">
                <a:solidFill>
                  <a:srgbClr val="FFFFFF"/>
                </a:solidFill>
              </a:rPr>
              <a:t>The Spacecraft</a:t>
            </a:r>
          </a:p>
        </p:txBody>
      </p:sp>
      <p:sp>
        <p:nvSpPr>
          <p:cNvPr id="8" name="TextBox 7"/>
          <p:cNvSpPr txBox="1"/>
          <p:nvPr/>
        </p:nvSpPr>
        <p:spPr>
          <a:xfrm>
            <a:off x="548640" y="1097280"/>
            <a:ext cx="10972800" cy="457200"/>
          </a:xfrm>
          <a:prstGeom prst="rect">
            <a:avLst/>
          </a:prstGeom>
          <a:noFill/>
        </p:spPr>
        <p:txBody>
          <a:bodyPr wrap="square">
            <a:spAutoFit/>
          </a:bodyPr>
          <a:lstStyle/>
          <a:p>
            <a:pPr algn="l"/>
            <a:r>
              <a:rPr sz="1600" b="0" i="1">
                <a:solidFill>
                  <a:srgbClr val="C9A84C"/>
                </a:solidFill>
              </a:rPr>
              <a:t>A small autonomous cryogenic preservation platform. Real aerospace. Not a concept.</a:t>
            </a:r>
          </a:p>
        </p:txBody>
      </p:sp>
      <p:sp>
        <p:nvSpPr>
          <p:cNvPr id="9" name="Rectangle 8"/>
          <p:cNvSpPr/>
          <p:nvPr/>
        </p:nvSpPr>
        <p:spPr>
          <a:xfrm>
            <a:off x="548640" y="1737360"/>
            <a:ext cx="3566160" cy="1920240"/>
          </a:xfrm>
          <a:prstGeom prst="rect">
            <a:avLst/>
          </a:prstGeom>
          <a:solidFill>
            <a:srgbClr val="1218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737360"/>
            <a:ext cx="3566160" cy="54864"/>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85800" y="1874519"/>
            <a:ext cx="3291840" cy="411480"/>
          </a:xfrm>
          <a:prstGeom prst="rect">
            <a:avLst/>
          </a:prstGeom>
          <a:noFill/>
        </p:spPr>
        <p:txBody>
          <a:bodyPr wrap="square">
            <a:spAutoFit/>
          </a:bodyPr>
          <a:lstStyle/>
          <a:p>
            <a:pPr algn="l"/>
            <a:r>
              <a:rPr sz="1300" b="1" i="0">
                <a:solidFill>
                  <a:srgbClr val="C9A84C"/>
                </a:solidFill>
              </a:rPr>
              <a:t>Passive Thermal Shell</a:t>
            </a:r>
          </a:p>
        </p:txBody>
      </p:sp>
      <p:sp>
        <p:nvSpPr>
          <p:cNvPr id="12" name="TextBox 11"/>
          <p:cNvSpPr txBox="1"/>
          <p:nvPr/>
        </p:nvSpPr>
        <p:spPr>
          <a:xfrm>
            <a:off x="685800" y="2286000"/>
            <a:ext cx="3291840" cy="1097280"/>
          </a:xfrm>
          <a:prstGeom prst="rect">
            <a:avLst/>
          </a:prstGeom>
          <a:noFill/>
        </p:spPr>
        <p:txBody>
          <a:bodyPr wrap="square">
            <a:spAutoFit/>
          </a:bodyPr>
          <a:lstStyle/>
          <a:p>
            <a:pPr algn="l"/>
            <a:r>
              <a:rPr sz="1100" b="0" i="0">
                <a:solidFill>
                  <a:srgbClr val="D0D0D0"/>
                </a:solidFill>
              </a:rPr>
              <a:t>60 layer MLI blanket + 5 layer sunshield
Effective emissivity below 0.002</a:t>
            </a:r>
          </a:p>
        </p:txBody>
      </p:sp>
      <p:sp>
        <p:nvSpPr>
          <p:cNvPr id="13" name="Rectangle 12"/>
          <p:cNvSpPr/>
          <p:nvPr/>
        </p:nvSpPr>
        <p:spPr>
          <a:xfrm>
            <a:off x="4389120" y="1737360"/>
            <a:ext cx="3566160" cy="1920240"/>
          </a:xfrm>
          <a:prstGeom prst="rect">
            <a:avLst/>
          </a:prstGeom>
          <a:solidFill>
            <a:srgbClr val="1218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389120" y="1737360"/>
            <a:ext cx="3566160" cy="54864"/>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526280" y="1874519"/>
            <a:ext cx="3291840" cy="411480"/>
          </a:xfrm>
          <a:prstGeom prst="rect">
            <a:avLst/>
          </a:prstGeom>
          <a:noFill/>
        </p:spPr>
        <p:txBody>
          <a:bodyPr wrap="square">
            <a:spAutoFit/>
          </a:bodyPr>
          <a:lstStyle/>
          <a:p>
            <a:pPr algn="l"/>
            <a:r>
              <a:rPr sz="1300" b="1" i="0">
                <a:solidFill>
                  <a:srgbClr val="C9A84C"/>
                </a:solidFill>
              </a:rPr>
              <a:t>Active Cryocooler</a:t>
            </a:r>
          </a:p>
        </p:txBody>
      </p:sp>
      <p:sp>
        <p:nvSpPr>
          <p:cNvPr id="16" name="TextBox 15"/>
          <p:cNvSpPr txBox="1"/>
          <p:nvPr/>
        </p:nvSpPr>
        <p:spPr>
          <a:xfrm>
            <a:off x="4526280" y="2286000"/>
            <a:ext cx="3291840" cy="1097280"/>
          </a:xfrm>
          <a:prstGeom prst="rect">
            <a:avLst/>
          </a:prstGeom>
          <a:noFill/>
        </p:spPr>
        <p:txBody>
          <a:bodyPr wrap="square">
            <a:spAutoFit/>
          </a:bodyPr>
          <a:lstStyle/>
          <a:p>
            <a:pPr algn="l"/>
            <a:r>
              <a:rPr sz="1100" b="0" i="0">
                <a:solidFill>
                  <a:srgbClr val="D0D0D0"/>
                </a:solidFill>
              </a:rPr>
              <a:t>Pulse tube cryocooler, 80K to 150K range
80 to 180W draw (Thales LPT series)</a:t>
            </a:r>
          </a:p>
        </p:txBody>
      </p:sp>
      <p:sp>
        <p:nvSpPr>
          <p:cNvPr id="17" name="Rectangle 16"/>
          <p:cNvSpPr/>
          <p:nvPr/>
        </p:nvSpPr>
        <p:spPr>
          <a:xfrm>
            <a:off x="8229600" y="1737360"/>
            <a:ext cx="3566160" cy="1920240"/>
          </a:xfrm>
          <a:prstGeom prst="rect">
            <a:avLst/>
          </a:prstGeom>
          <a:solidFill>
            <a:srgbClr val="1218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229600" y="1737360"/>
            <a:ext cx="3566160" cy="54864"/>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366760" y="1874519"/>
            <a:ext cx="3291840" cy="411480"/>
          </a:xfrm>
          <a:prstGeom prst="rect">
            <a:avLst/>
          </a:prstGeom>
          <a:noFill/>
        </p:spPr>
        <p:txBody>
          <a:bodyPr wrap="square">
            <a:spAutoFit/>
          </a:bodyPr>
          <a:lstStyle/>
          <a:p>
            <a:pPr algn="l"/>
            <a:r>
              <a:rPr sz="1300" b="1" i="0">
                <a:solidFill>
                  <a:srgbClr val="C9A84C"/>
                </a:solidFill>
              </a:rPr>
              <a:t>Solar Power</a:t>
            </a:r>
          </a:p>
        </p:txBody>
      </p:sp>
      <p:sp>
        <p:nvSpPr>
          <p:cNvPr id="20" name="TextBox 19"/>
          <p:cNvSpPr txBox="1"/>
          <p:nvPr/>
        </p:nvSpPr>
        <p:spPr>
          <a:xfrm>
            <a:off x="8366760" y="2286000"/>
            <a:ext cx="3291840" cy="1097280"/>
          </a:xfrm>
          <a:prstGeom prst="rect">
            <a:avLst/>
          </a:prstGeom>
          <a:noFill/>
        </p:spPr>
        <p:txBody>
          <a:bodyPr wrap="square">
            <a:spAutoFit/>
          </a:bodyPr>
          <a:lstStyle/>
          <a:p>
            <a:pPr algn="l"/>
            <a:r>
              <a:rPr sz="1100" b="0" i="0">
                <a:solidFill>
                  <a:srgbClr val="D0D0D0"/>
                </a:solidFill>
              </a:rPr>
              <a:t>300 to 500W deployable arrays
28V bus with Li ion battery backup</a:t>
            </a:r>
          </a:p>
        </p:txBody>
      </p:sp>
      <p:sp>
        <p:nvSpPr>
          <p:cNvPr id="21" name="Rectangle 20"/>
          <p:cNvSpPr/>
          <p:nvPr/>
        </p:nvSpPr>
        <p:spPr>
          <a:xfrm>
            <a:off x="548640" y="4023360"/>
            <a:ext cx="3566160" cy="1920240"/>
          </a:xfrm>
          <a:prstGeom prst="rect">
            <a:avLst/>
          </a:prstGeom>
          <a:solidFill>
            <a:srgbClr val="1218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48640" y="4023360"/>
            <a:ext cx="3566160" cy="54864"/>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85800" y="4160520"/>
            <a:ext cx="3291840" cy="411480"/>
          </a:xfrm>
          <a:prstGeom prst="rect">
            <a:avLst/>
          </a:prstGeom>
          <a:noFill/>
        </p:spPr>
        <p:txBody>
          <a:bodyPr wrap="square">
            <a:spAutoFit/>
          </a:bodyPr>
          <a:lstStyle/>
          <a:p>
            <a:pPr algn="l"/>
            <a:r>
              <a:rPr sz="1300" b="1" i="0">
                <a:solidFill>
                  <a:srgbClr val="C9A84C"/>
                </a:solidFill>
              </a:rPr>
              <a:t>Autonomous Control</a:t>
            </a:r>
          </a:p>
        </p:txBody>
      </p:sp>
      <p:sp>
        <p:nvSpPr>
          <p:cNvPr id="24" name="TextBox 23"/>
          <p:cNvSpPr txBox="1"/>
          <p:nvPr/>
        </p:nvSpPr>
        <p:spPr>
          <a:xfrm>
            <a:off x="685800" y="4572000"/>
            <a:ext cx="3291840" cy="1097280"/>
          </a:xfrm>
          <a:prstGeom prst="rect">
            <a:avLst/>
          </a:prstGeom>
          <a:noFill/>
        </p:spPr>
        <p:txBody>
          <a:bodyPr wrap="square">
            <a:spAutoFit/>
          </a:bodyPr>
          <a:lstStyle/>
          <a:p>
            <a:pPr algn="l"/>
            <a:r>
              <a:rPr sz="1100" b="0" i="0">
                <a:solidFill>
                  <a:srgbClr val="D0D0D0"/>
                </a:solidFill>
              </a:rPr>
              <a:t>Thermal control computer + PT100 sensors
Emergency shutdown logic</a:t>
            </a:r>
          </a:p>
        </p:txBody>
      </p:sp>
      <p:sp>
        <p:nvSpPr>
          <p:cNvPr id="25" name="Rectangle 24"/>
          <p:cNvSpPr/>
          <p:nvPr/>
        </p:nvSpPr>
        <p:spPr>
          <a:xfrm>
            <a:off x="4389120" y="4023360"/>
            <a:ext cx="3566160" cy="1920240"/>
          </a:xfrm>
          <a:prstGeom prst="rect">
            <a:avLst/>
          </a:prstGeom>
          <a:solidFill>
            <a:srgbClr val="1218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4389120" y="4023360"/>
            <a:ext cx="3566160" cy="54864"/>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526280" y="4160520"/>
            <a:ext cx="3291840" cy="411480"/>
          </a:xfrm>
          <a:prstGeom prst="rect">
            <a:avLst/>
          </a:prstGeom>
          <a:noFill/>
        </p:spPr>
        <p:txBody>
          <a:bodyPr wrap="square">
            <a:spAutoFit/>
          </a:bodyPr>
          <a:lstStyle/>
          <a:p>
            <a:pPr algn="l"/>
            <a:r>
              <a:rPr sz="1300" b="1" i="0">
                <a:solidFill>
                  <a:srgbClr val="C9A84C"/>
                </a:solidFill>
              </a:rPr>
              <a:t>Telemetry</a:t>
            </a:r>
          </a:p>
        </p:txBody>
      </p:sp>
      <p:sp>
        <p:nvSpPr>
          <p:cNvPr id="28" name="TextBox 27"/>
          <p:cNvSpPr txBox="1"/>
          <p:nvPr/>
        </p:nvSpPr>
        <p:spPr>
          <a:xfrm>
            <a:off x="4526280" y="4572000"/>
            <a:ext cx="3291840" cy="1097280"/>
          </a:xfrm>
          <a:prstGeom prst="rect">
            <a:avLst/>
          </a:prstGeom>
          <a:noFill/>
        </p:spPr>
        <p:txBody>
          <a:bodyPr wrap="square">
            <a:spAutoFit/>
          </a:bodyPr>
          <a:lstStyle/>
          <a:p>
            <a:pPr algn="l"/>
            <a:r>
              <a:rPr sz="1100" b="0" i="0">
                <a:solidFill>
                  <a:srgbClr val="D0D0D0"/>
                </a:solidFill>
              </a:rPr>
              <a:t>S band or UHF comms
Real time temperature and health reporting</a:t>
            </a:r>
          </a:p>
        </p:txBody>
      </p:sp>
      <p:sp>
        <p:nvSpPr>
          <p:cNvPr id="29" name="Rectangle 28"/>
          <p:cNvSpPr/>
          <p:nvPr/>
        </p:nvSpPr>
        <p:spPr>
          <a:xfrm>
            <a:off x="8229600" y="4023360"/>
            <a:ext cx="3566160" cy="1920240"/>
          </a:xfrm>
          <a:prstGeom prst="rect">
            <a:avLst/>
          </a:prstGeom>
          <a:solidFill>
            <a:srgbClr val="1218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8229600" y="4023360"/>
            <a:ext cx="3566160" cy="54864"/>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366760" y="4160520"/>
            <a:ext cx="3291840" cy="411480"/>
          </a:xfrm>
          <a:prstGeom prst="rect">
            <a:avLst/>
          </a:prstGeom>
          <a:noFill/>
        </p:spPr>
        <p:txBody>
          <a:bodyPr wrap="square">
            <a:spAutoFit/>
          </a:bodyPr>
          <a:lstStyle/>
          <a:p>
            <a:pPr algn="l"/>
            <a:r>
              <a:rPr sz="1300" b="1" i="0">
                <a:solidFill>
                  <a:srgbClr val="C9A84C"/>
                </a:solidFill>
              </a:rPr>
              <a:t>Attitude Control</a:t>
            </a:r>
          </a:p>
        </p:txBody>
      </p:sp>
      <p:sp>
        <p:nvSpPr>
          <p:cNvPr id="32" name="TextBox 31"/>
          <p:cNvSpPr txBox="1"/>
          <p:nvPr/>
        </p:nvSpPr>
        <p:spPr>
          <a:xfrm>
            <a:off x="8366760" y="4572000"/>
            <a:ext cx="3291840" cy="1097280"/>
          </a:xfrm>
          <a:prstGeom prst="rect">
            <a:avLst/>
          </a:prstGeom>
          <a:noFill/>
        </p:spPr>
        <p:txBody>
          <a:bodyPr wrap="square">
            <a:spAutoFit/>
          </a:bodyPr>
          <a:lstStyle/>
          <a:p>
            <a:pPr algn="l"/>
            <a:r>
              <a:rPr sz="1100" b="0" i="0">
                <a:solidFill>
                  <a:srgbClr val="D0D0D0"/>
                </a:solidFill>
              </a:rPr>
              <a:t>Reaction wheels or magnetorquers
Sunshield permanently Sun facing</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0A0F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73152" cy="6858000"/>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548640" y="1051560"/>
            <a:ext cx="11064240" cy="36576"/>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247120" y="6492240"/>
            <a:ext cx="731520" cy="274320"/>
          </a:xfrm>
          <a:prstGeom prst="rect">
            <a:avLst/>
          </a:prstGeom>
          <a:noFill/>
        </p:spPr>
        <p:txBody>
          <a:bodyPr wrap="square">
            <a:spAutoFit/>
          </a:bodyPr>
          <a:lstStyle/>
          <a:p>
            <a:pPr algn="r"/>
            <a:r>
              <a:rPr sz="900" b="0" i="0">
                <a:solidFill>
                  <a:srgbClr val="888899"/>
                </a:solidFill>
              </a:rPr>
              <a:t>5 / 12</a:t>
            </a:r>
          </a:p>
        </p:txBody>
      </p:sp>
      <p:sp>
        <p:nvSpPr>
          <p:cNvPr id="6" name="TextBox 5"/>
          <p:cNvSpPr txBox="1"/>
          <p:nvPr/>
        </p:nvSpPr>
        <p:spPr>
          <a:xfrm>
            <a:off x="548640" y="6492240"/>
            <a:ext cx="5486400" cy="274320"/>
          </a:xfrm>
          <a:prstGeom prst="rect">
            <a:avLst/>
          </a:prstGeom>
          <a:noFill/>
        </p:spPr>
        <p:txBody>
          <a:bodyPr wrap="square">
            <a:spAutoFit/>
          </a:bodyPr>
          <a:lstStyle/>
          <a:p>
            <a:pPr algn="l"/>
            <a:r>
              <a:rPr sz="900" b="0" i="0">
                <a:solidFill>
                  <a:srgbClr val="888899"/>
                </a:solidFill>
              </a:rPr>
              <a:t>SPACE CORPS  |  BEYOND EARTH</a:t>
            </a:r>
          </a:p>
        </p:txBody>
      </p:sp>
      <p:sp>
        <p:nvSpPr>
          <p:cNvPr id="7" name="TextBox 6"/>
          <p:cNvSpPr txBox="1"/>
          <p:nvPr/>
        </p:nvSpPr>
        <p:spPr>
          <a:xfrm>
            <a:off x="548640" y="274320"/>
            <a:ext cx="10972800" cy="731520"/>
          </a:xfrm>
          <a:prstGeom prst="rect">
            <a:avLst/>
          </a:prstGeom>
          <a:noFill/>
        </p:spPr>
        <p:txBody>
          <a:bodyPr wrap="square">
            <a:spAutoFit/>
          </a:bodyPr>
          <a:lstStyle/>
          <a:p>
            <a:pPr algn="l"/>
            <a:r>
              <a:rPr sz="3000" b="1" i="0">
                <a:solidFill>
                  <a:srgbClr val="FFFFFF"/>
                </a:solidFill>
              </a:rPr>
              <a:t>Why Space Works for Cryogenic Preservation</a:t>
            </a:r>
          </a:p>
        </p:txBody>
      </p:sp>
      <p:sp>
        <p:nvSpPr>
          <p:cNvPr id="8" name="Rectangle 7"/>
          <p:cNvSpPr/>
          <p:nvPr/>
        </p:nvSpPr>
        <p:spPr>
          <a:xfrm>
            <a:off x="548640" y="1234440"/>
            <a:ext cx="54864" cy="640080"/>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1188720"/>
            <a:ext cx="2743200" cy="411480"/>
          </a:xfrm>
          <a:prstGeom prst="rect">
            <a:avLst/>
          </a:prstGeom>
          <a:noFill/>
        </p:spPr>
        <p:txBody>
          <a:bodyPr wrap="square">
            <a:spAutoFit/>
          </a:bodyPr>
          <a:lstStyle/>
          <a:p>
            <a:pPr algn="l"/>
            <a:r>
              <a:rPr sz="1300" b="1" i="0">
                <a:solidFill>
                  <a:srgbClr val="C9A84C"/>
                </a:solidFill>
              </a:rPr>
              <a:t>Deep Space Temperature</a:t>
            </a:r>
          </a:p>
        </p:txBody>
      </p:sp>
      <p:sp>
        <p:nvSpPr>
          <p:cNvPr id="10" name="TextBox 9"/>
          <p:cNvSpPr txBox="1"/>
          <p:nvPr/>
        </p:nvSpPr>
        <p:spPr>
          <a:xfrm>
            <a:off x="777240" y="1600200"/>
            <a:ext cx="10789920" cy="502920"/>
          </a:xfrm>
          <a:prstGeom prst="rect">
            <a:avLst/>
          </a:prstGeom>
          <a:noFill/>
        </p:spPr>
        <p:txBody>
          <a:bodyPr wrap="square">
            <a:spAutoFit/>
          </a:bodyPr>
          <a:lstStyle/>
          <a:p>
            <a:pPr algn="l"/>
            <a:r>
              <a:rPr sz="1150" b="0" i="0">
                <a:solidFill>
                  <a:srgbClr val="D0D0D0"/>
                </a:solidFill>
              </a:rPr>
              <a:t>The cosmic background temperature is 2.7K (minus 270 degrees C). Far colder than LN2 at minus 196 degrees C. The thermal environment of space is naturally cryogenic.</a:t>
            </a:r>
          </a:p>
        </p:txBody>
      </p:sp>
      <p:sp>
        <p:nvSpPr>
          <p:cNvPr id="11" name="Rectangle 10"/>
          <p:cNvSpPr/>
          <p:nvPr/>
        </p:nvSpPr>
        <p:spPr>
          <a:xfrm>
            <a:off x="548640" y="2240280"/>
            <a:ext cx="54864" cy="640080"/>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77240" y="2194560"/>
            <a:ext cx="2743200" cy="411480"/>
          </a:xfrm>
          <a:prstGeom prst="rect">
            <a:avLst/>
          </a:prstGeom>
          <a:noFill/>
        </p:spPr>
        <p:txBody>
          <a:bodyPr wrap="square">
            <a:spAutoFit/>
          </a:bodyPr>
          <a:lstStyle/>
          <a:p>
            <a:pPr algn="l"/>
            <a:r>
              <a:rPr sz="1300" b="1" i="0">
                <a:solidFill>
                  <a:srgbClr val="C9A84C"/>
                </a:solidFill>
              </a:rPr>
              <a:t>Estimated Thermal Load</a:t>
            </a:r>
          </a:p>
        </p:txBody>
      </p:sp>
      <p:sp>
        <p:nvSpPr>
          <p:cNvPr id="13" name="TextBox 12"/>
          <p:cNvSpPr txBox="1"/>
          <p:nvPr/>
        </p:nvSpPr>
        <p:spPr>
          <a:xfrm>
            <a:off x="777240" y="2606040"/>
            <a:ext cx="10789920" cy="502920"/>
          </a:xfrm>
          <a:prstGeom prst="rect">
            <a:avLst/>
          </a:prstGeom>
          <a:noFill/>
        </p:spPr>
        <p:txBody>
          <a:bodyPr wrap="square">
            <a:spAutoFit/>
          </a:bodyPr>
          <a:lstStyle/>
          <a:p>
            <a:pPr algn="l"/>
            <a:r>
              <a:rPr sz="1150" b="0" i="0">
                <a:solidFill>
                  <a:srgbClr val="D0D0D0"/>
                </a:solidFill>
              </a:rPr>
              <a:t>With proper MLI and sunshielding, passive heat leakage is estimated at approximately 38 milliwatts. That is a microscopic load. The cryocooler barely needs to work.</a:t>
            </a:r>
          </a:p>
        </p:txBody>
      </p:sp>
      <p:sp>
        <p:nvSpPr>
          <p:cNvPr id="14" name="Rectangle 13"/>
          <p:cNvSpPr/>
          <p:nvPr/>
        </p:nvSpPr>
        <p:spPr>
          <a:xfrm>
            <a:off x="548640" y="3246120"/>
            <a:ext cx="54864" cy="640080"/>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77240" y="3200400"/>
            <a:ext cx="2743200" cy="411480"/>
          </a:xfrm>
          <a:prstGeom prst="rect">
            <a:avLst/>
          </a:prstGeom>
          <a:noFill/>
        </p:spPr>
        <p:txBody>
          <a:bodyPr wrap="square">
            <a:spAutoFit/>
          </a:bodyPr>
          <a:lstStyle/>
          <a:p>
            <a:pPr algn="l"/>
            <a:r>
              <a:rPr sz="1300" b="1" i="0">
                <a:solidFill>
                  <a:srgbClr val="C9A84C"/>
                </a:solidFill>
              </a:rPr>
              <a:t>No Consumables</a:t>
            </a:r>
          </a:p>
        </p:txBody>
      </p:sp>
      <p:sp>
        <p:nvSpPr>
          <p:cNvPr id="16" name="TextBox 15"/>
          <p:cNvSpPr txBox="1"/>
          <p:nvPr/>
        </p:nvSpPr>
        <p:spPr>
          <a:xfrm>
            <a:off x="777240" y="3611880"/>
            <a:ext cx="10789920" cy="502920"/>
          </a:xfrm>
          <a:prstGeom prst="rect">
            <a:avLst/>
          </a:prstGeom>
          <a:noFill/>
        </p:spPr>
        <p:txBody>
          <a:bodyPr wrap="square">
            <a:spAutoFit/>
          </a:bodyPr>
          <a:lstStyle/>
          <a:p>
            <a:pPr algn="l"/>
            <a:r>
              <a:rPr sz="1150" b="0" i="0">
                <a:solidFill>
                  <a:srgbClr val="D0D0D0"/>
                </a:solidFill>
              </a:rPr>
              <a:t>Ground dewars slowly boil off LN2 and require continuous resupply. A solar powered cryocooler in orbit runs indefinitely with zero consumables.</a:t>
            </a:r>
          </a:p>
        </p:txBody>
      </p:sp>
      <p:sp>
        <p:nvSpPr>
          <p:cNvPr id="17" name="Rectangle 16"/>
          <p:cNvSpPr/>
          <p:nvPr/>
        </p:nvSpPr>
        <p:spPr>
          <a:xfrm>
            <a:off x="548640" y="4251960"/>
            <a:ext cx="54864" cy="640080"/>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77240" y="4206240"/>
            <a:ext cx="2743200" cy="411480"/>
          </a:xfrm>
          <a:prstGeom prst="rect">
            <a:avLst/>
          </a:prstGeom>
          <a:noFill/>
        </p:spPr>
        <p:txBody>
          <a:bodyPr wrap="square">
            <a:spAutoFit/>
          </a:bodyPr>
          <a:lstStyle/>
          <a:p>
            <a:pPr algn="l"/>
            <a:r>
              <a:rPr sz="1300" b="1" i="0">
                <a:solidFill>
                  <a:srgbClr val="C9A84C"/>
                </a:solidFill>
              </a:rPr>
              <a:t>Vitrification Is the Key</a:t>
            </a:r>
          </a:p>
        </p:txBody>
      </p:sp>
      <p:sp>
        <p:nvSpPr>
          <p:cNvPr id="19" name="TextBox 18"/>
          <p:cNvSpPr txBox="1"/>
          <p:nvPr/>
        </p:nvSpPr>
        <p:spPr>
          <a:xfrm>
            <a:off x="777240" y="4617720"/>
            <a:ext cx="10789920" cy="502920"/>
          </a:xfrm>
          <a:prstGeom prst="rect">
            <a:avLst/>
          </a:prstGeom>
          <a:noFill/>
        </p:spPr>
        <p:txBody>
          <a:bodyPr wrap="square">
            <a:spAutoFit/>
          </a:bodyPr>
          <a:lstStyle/>
          <a:p>
            <a:pPr algn="l"/>
            <a:r>
              <a:rPr sz="1150" b="0" i="0">
                <a:solidFill>
                  <a:srgbClr val="D0D0D0"/>
                </a:solidFill>
              </a:rPr>
              <a:t>The payload is vitrified at minus 130 degrees C before launch. It does not need to stay at minus 196 degrees C. Maintaining 80K to 150K is well within aerospace capability.</a:t>
            </a:r>
          </a:p>
        </p:txBody>
      </p:sp>
      <p:sp>
        <p:nvSpPr>
          <p:cNvPr id="20" name="Rectangle 19"/>
          <p:cNvSpPr/>
          <p:nvPr/>
        </p:nvSpPr>
        <p:spPr>
          <a:xfrm>
            <a:off x="548640" y="5257800"/>
            <a:ext cx="54864" cy="640080"/>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77240" y="5212080"/>
            <a:ext cx="2743200" cy="411480"/>
          </a:xfrm>
          <a:prstGeom prst="rect">
            <a:avLst/>
          </a:prstGeom>
          <a:noFill/>
        </p:spPr>
        <p:txBody>
          <a:bodyPr wrap="square">
            <a:spAutoFit/>
          </a:bodyPr>
          <a:lstStyle/>
          <a:p>
            <a:pPr algn="l"/>
            <a:r>
              <a:rPr sz="1300" b="1" i="0">
                <a:solidFill>
                  <a:srgbClr val="C9A84C"/>
                </a:solidFill>
              </a:rPr>
              <a:t>Proven Technology</a:t>
            </a:r>
          </a:p>
        </p:txBody>
      </p:sp>
      <p:sp>
        <p:nvSpPr>
          <p:cNvPr id="22" name="TextBox 21"/>
          <p:cNvSpPr txBox="1"/>
          <p:nvPr/>
        </p:nvSpPr>
        <p:spPr>
          <a:xfrm>
            <a:off x="777240" y="5623560"/>
            <a:ext cx="10789920" cy="502920"/>
          </a:xfrm>
          <a:prstGeom prst="rect">
            <a:avLst/>
          </a:prstGeom>
          <a:noFill/>
        </p:spPr>
        <p:txBody>
          <a:bodyPr wrap="square">
            <a:spAutoFit/>
          </a:bodyPr>
          <a:lstStyle/>
          <a:p>
            <a:pPr algn="l"/>
            <a:r>
              <a:rPr sz="1150" b="0" i="0">
                <a:solidFill>
                  <a:srgbClr val="D0D0D0"/>
                </a:solidFill>
              </a:rPr>
              <a:t>Pulse tube cryocoolers fly on satellites today. Deployable solar arrays are standard. MLI and sunshields are used on JWST. This is real hardware, not theoretical.</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0A0F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73152" cy="6858000"/>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548640" y="1051560"/>
            <a:ext cx="11064240" cy="36576"/>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247120" y="6492240"/>
            <a:ext cx="731520" cy="274320"/>
          </a:xfrm>
          <a:prstGeom prst="rect">
            <a:avLst/>
          </a:prstGeom>
          <a:noFill/>
        </p:spPr>
        <p:txBody>
          <a:bodyPr wrap="square">
            <a:spAutoFit/>
          </a:bodyPr>
          <a:lstStyle/>
          <a:p>
            <a:pPr algn="r"/>
            <a:r>
              <a:rPr sz="900" b="0" i="0">
                <a:solidFill>
                  <a:srgbClr val="888899"/>
                </a:solidFill>
              </a:rPr>
              <a:t>6 / 12</a:t>
            </a:r>
          </a:p>
        </p:txBody>
      </p:sp>
      <p:sp>
        <p:nvSpPr>
          <p:cNvPr id="6" name="TextBox 5"/>
          <p:cNvSpPr txBox="1"/>
          <p:nvPr/>
        </p:nvSpPr>
        <p:spPr>
          <a:xfrm>
            <a:off x="548640" y="6492240"/>
            <a:ext cx="5486400" cy="274320"/>
          </a:xfrm>
          <a:prstGeom prst="rect">
            <a:avLst/>
          </a:prstGeom>
          <a:noFill/>
        </p:spPr>
        <p:txBody>
          <a:bodyPr wrap="square">
            <a:spAutoFit/>
          </a:bodyPr>
          <a:lstStyle/>
          <a:p>
            <a:pPr algn="l"/>
            <a:r>
              <a:rPr sz="900" b="0" i="0">
                <a:solidFill>
                  <a:srgbClr val="888899"/>
                </a:solidFill>
              </a:rPr>
              <a:t>SPACE CORPS  |  BEYOND EARTH</a:t>
            </a:r>
          </a:p>
        </p:txBody>
      </p:sp>
      <p:sp>
        <p:nvSpPr>
          <p:cNvPr id="7" name="TextBox 6"/>
          <p:cNvSpPr txBox="1"/>
          <p:nvPr/>
        </p:nvSpPr>
        <p:spPr>
          <a:xfrm>
            <a:off x="548640" y="274320"/>
            <a:ext cx="10972800" cy="731520"/>
          </a:xfrm>
          <a:prstGeom prst="rect">
            <a:avLst/>
          </a:prstGeom>
          <a:noFill/>
        </p:spPr>
        <p:txBody>
          <a:bodyPr wrap="square">
            <a:spAutoFit/>
          </a:bodyPr>
          <a:lstStyle/>
          <a:p>
            <a:pPr algn="l"/>
            <a:r>
              <a:rPr sz="3200" b="1" i="0">
                <a:solidFill>
                  <a:srgbClr val="FFFFFF"/>
                </a:solidFill>
              </a:rPr>
              <a:t>The Partnership Model</a:t>
            </a:r>
          </a:p>
        </p:txBody>
      </p:sp>
      <p:sp>
        <p:nvSpPr>
          <p:cNvPr id="8" name="TextBox 7"/>
          <p:cNvSpPr txBox="1"/>
          <p:nvPr/>
        </p:nvSpPr>
        <p:spPr>
          <a:xfrm>
            <a:off x="548640" y="1097280"/>
            <a:ext cx="10972800" cy="457200"/>
          </a:xfrm>
          <a:prstGeom prst="rect">
            <a:avLst/>
          </a:prstGeom>
          <a:noFill/>
        </p:spPr>
        <p:txBody>
          <a:bodyPr wrap="square">
            <a:spAutoFit/>
          </a:bodyPr>
          <a:lstStyle/>
          <a:p>
            <a:pPr algn="l"/>
            <a:r>
              <a:rPr sz="1800" b="0" i="1">
                <a:solidFill>
                  <a:srgbClr val="C9A84C"/>
                </a:solidFill>
              </a:rPr>
              <a:t>Space Corps does not replace Alcor. We extend what Alcor can offer.</a:t>
            </a:r>
          </a:p>
        </p:txBody>
      </p:sp>
      <p:sp>
        <p:nvSpPr>
          <p:cNvPr id="9" name="Rectangle 8"/>
          <p:cNvSpPr/>
          <p:nvPr/>
        </p:nvSpPr>
        <p:spPr>
          <a:xfrm>
            <a:off x="548640" y="1828800"/>
            <a:ext cx="3474720" cy="4297680"/>
          </a:xfrm>
          <a:prstGeom prst="rect">
            <a:avLst/>
          </a:prstGeom>
          <a:solidFill>
            <a:srgbClr val="1016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828800"/>
            <a:ext cx="3474720" cy="502920"/>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85800" y="1828800"/>
            <a:ext cx="3200400" cy="274320"/>
          </a:xfrm>
          <a:prstGeom prst="rect">
            <a:avLst/>
          </a:prstGeom>
          <a:noFill/>
        </p:spPr>
        <p:txBody>
          <a:bodyPr wrap="square">
            <a:spAutoFit/>
          </a:bodyPr>
          <a:lstStyle/>
          <a:p>
            <a:pPr algn="ctr"/>
            <a:r>
              <a:rPr sz="1000" b="1" i="0">
                <a:solidFill>
                  <a:srgbClr val="0A0F2A"/>
                </a:solidFill>
              </a:rPr>
              <a:t>PHASE 1</a:t>
            </a:r>
          </a:p>
        </p:txBody>
      </p:sp>
      <p:sp>
        <p:nvSpPr>
          <p:cNvPr id="12" name="TextBox 11"/>
          <p:cNvSpPr txBox="1"/>
          <p:nvPr/>
        </p:nvSpPr>
        <p:spPr>
          <a:xfrm>
            <a:off x="685800" y="2103120"/>
            <a:ext cx="3200400" cy="365760"/>
          </a:xfrm>
          <a:prstGeom prst="rect">
            <a:avLst/>
          </a:prstGeom>
          <a:noFill/>
        </p:spPr>
        <p:txBody>
          <a:bodyPr wrap="square">
            <a:spAutoFit/>
          </a:bodyPr>
          <a:lstStyle/>
          <a:p>
            <a:pPr algn="ctr"/>
            <a:r>
              <a:rPr sz="1500" b="1" i="0">
                <a:solidFill>
                  <a:srgbClr val="0A0F2A"/>
                </a:solidFill>
              </a:rPr>
              <a:t>ALCOR</a:t>
            </a:r>
          </a:p>
        </p:txBody>
      </p:sp>
      <p:sp>
        <p:nvSpPr>
          <p:cNvPr id="13" name="TextBox 12"/>
          <p:cNvSpPr txBox="1"/>
          <p:nvPr/>
        </p:nvSpPr>
        <p:spPr>
          <a:xfrm>
            <a:off x="731520" y="2606040"/>
            <a:ext cx="3108960" cy="502920"/>
          </a:xfrm>
          <a:prstGeom prst="rect">
            <a:avLst/>
          </a:prstGeom>
          <a:noFill/>
        </p:spPr>
        <p:txBody>
          <a:bodyPr wrap="square">
            <a:spAutoFit/>
          </a:bodyPr>
          <a:lstStyle/>
          <a:p>
            <a:pPr algn="l"/>
            <a:r>
              <a:rPr sz="1150" b="0" i="0">
                <a:solidFill>
                  <a:srgbClr val="FFFFFF"/>
                </a:solidFill>
              </a:rPr>
              <a:t>Legal death declaration</a:t>
            </a:r>
          </a:p>
        </p:txBody>
      </p:sp>
      <p:sp>
        <p:nvSpPr>
          <p:cNvPr id="14" name="TextBox 13"/>
          <p:cNvSpPr txBox="1"/>
          <p:nvPr/>
        </p:nvSpPr>
        <p:spPr>
          <a:xfrm>
            <a:off x="731520" y="3200400"/>
            <a:ext cx="3108960" cy="502920"/>
          </a:xfrm>
          <a:prstGeom prst="rect">
            <a:avLst/>
          </a:prstGeom>
          <a:noFill/>
        </p:spPr>
        <p:txBody>
          <a:bodyPr wrap="square">
            <a:spAutoFit/>
          </a:bodyPr>
          <a:lstStyle/>
          <a:p>
            <a:pPr algn="l"/>
            <a:r>
              <a:rPr sz="1150" b="0" i="0">
                <a:solidFill>
                  <a:srgbClr val="FFFFFF"/>
                </a:solidFill>
              </a:rPr>
              <a:t>Stabilization and field CPS</a:t>
            </a:r>
          </a:p>
        </p:txBody>
      </p:sp>
      <p:sp>
        <p:nvSpPr>
          <p:cNvPr id="15" name="TextBox 14"/>
          <p:cNvSpPr txBox="1"/>
          <p:nvPr/>
        </p:nvSpPr>
        <p:spPr>
          <a:xfrm>
            <a:off x="731520" y="3794760"/>
            <a:ext cx="3108960" cy="502920"/>
          </a:xfrm>
          <a:prstGeom prst="rect">
            <a:avLst/>
          </a:prstGeom>
          <a:noFill/>
        </p:spPr>
        <p:txBody>
          <a:bodyPr wrap="square">
            <a:spAutoFit/>
          </a:bodyPr>
          <a:lstStyle/>
          <a:p>
            <a:pPr algn="l"/>
            <a:r>
              <a:rPr sz="1150" b="0" i="0">
                <a:solidFill>
                  <a:srgbClr val="FFFFFF"/>
                </a:solidFill>
              </a:rPr>
              <a:t>M22 cryoprotectant perfusion</a:t>
            </a:r>
          </a:p>
        </p:txBody>
      </p:sp>
      <p:sp>
        <p:nvSpPr>
          <p:cNvPr id="16" name="TextBox 15"/>
          <p:cNvSpPr txBox="1"/>
          <p:nvPr/>
        </p:nvSpPr>
        <p:spPr>
          <a:xfrm>
            <a:off x="731520" y="4389120"/>
            <a:ext cx="3108960" cy="502920"/>
          </a:xfrm>
          <a:prstGeom prst="rect">
            <a:avLst/>
          </a:prstGeom>
          <a:noFill/>
        </p:spPr>
        <p:txBody>
          <a:bodyPr wrap="square">
            <a:spAutoFit/>
          </a:bodyPr>
          <a:lstStyle/>
          <a:p>
            <a:pPr algn="l"/>
            <a:r>
              <a:rPr sz="1150" b="0" i="0">
                <a:solidFill>
                  <a:srgbClr val="FFFFFF"/>
                </a:solidFill>
              </a:rPr>
              <a:t>Vitrification to minus 130C</a:t>
            </a:r>
          </a:p>
        </p:txBody>
      </p:sp>
      <p:sp>
        <p:nvSpPr>
          <p:cNvPr id="17" name="TextBox 16"/>
          <p:cNvSpPr txBox="1"/>
          <p:nvPr/>
        </p:nvSpPr>
        <p:spPr>
          <a:xfrm>
            <a:off x="731520" y="4983480"/>
            <a:ext cx="3108960" cy="502920"/>
          </a:xfrm>
          <a:prstGeom prst="rect">
            <a:avLst/>
          </a:prstGeom>
          <a:noFill/>
        </p:spPr>
        <p:txBody>
          <a:bodyPr wrap="square">
            <a:spAutoFit/>
          </a:bodyPr>
          <a:lstStyle/>
          <a:p>
            <a:pPr algn="l"/>
            <a:r>
              <a:rPr sz="1150" b="0" i="0">
                <a:solidFill>
                  <a:srgbClr val="FFFFFF"/>
                </a:solidFill>
              </a:rPr>
              <a:t>Transfer to Space Corps dewar</a:t>
            </a:r>
          </a:p>
        </p:txBody>
      </p:sp>
      <p:sp>
        <p:nvSpPr>
          <p:cNvPr id="18" name="TextBox 17"/>
          <p:cNvSpPr txBox="1"/>
          <p:nvPr/>
        </p:nvSpPr>
        <p:spPr>
          <a:xfrm>
            <a:off x="4069080" y="3840480"/>
            <a:ext cx="274320" cy="365760"/>
          </a:xfrm>
          <a:prstGeom prst="rect">
            <a:avLst/>
          </a:prstGeom>
          <a:noFill/>
        </p:spPr>
        <p:txBody>
          <a:bodyPr wrap="square">
            <a:spAutoFit/>
          </a:bodyPr>
          <a:lstStyle/>
          <a:p>
            <a:pPr algn="ctr"/>
            <a:r>
              <a:rPr sz="2000" b="1" i="0">
                <a:solidFill>
                  <a:srgbClr val="C9A84C"/>
                </a:solidFill>
              </a:rPr>
              <a:t>&gt;</a:t>
            </a:r>
          </a:p>
        </p:txBody>
      </p:sp>
      <p:sp>
        <p:nvSpPr>
          <p:cNvPr id="19" name="Rectangle 18"/>
          <p:cNvSpPr/>
          <p:nvPr/>
        </p:nvSpPr>
        <p:spPr>
          <a:xfrm>
            <a:off x="4343400" y="1828800"/>
            <a:ext cx="3474720" cy="4297680"/>
          </a:xfrm>
          <a:prstGeom prst="rect">
            <a:avLst/>
          </a:prstGeom>
          <a:solidFill>
            <a:srgbClr val="1016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4343400" y="1828800"/>
            <a:ext cx="3474720" cy="502920"/>
          </a:xfrm>
          <a:prstGeom prst="rect">
            <a:avLst/>
          </a:prstGeom>
          <a:solidFill>
            <a:srgbClr val="1A40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480560" y="1828800"/>
            <a:ext cx="3200400" cy="274320"/>
          </a:xfrm>
          <a:prstGeom prst="rect">
            <a:avLst/>
          </a:prstGeom>
          <a:noFill/>
        </p:spPr>
        <p:txBody>
          <a:bodyPr wrap="square">
            <a:spAutoFit/>
          </a:bodyPr>
          <a:lstStyle/>
          <a:p>
            <a:pPr algn="ctr"/>
            <a:r>
              <a:rPr sz="1000" b="1" i="0">
                <a:solidFill>
                  <a:srgbClr val="FFFFFF"/>
                </a:solidFill>
              </a:rPr>
              <a:t>PHASE 2</a:t>
            </a:r>
          </a:p>
        </p:txBody>
      </p:sp>
      <p:sp>
        <p:nvSpPr>
          <p:cNvPr id="22" name="TextBox 21"/>
          <p:cNvSpPr txBox="1"/>
          <p:nvPr/>
        </p:nvSpPr>
        <p:spPr>
          <a:xfrm>
            <a:off x="4480560" y="2103120"/>
            <a:ext cx="3200400" cy="365760"/>
          </a:xfrm>
          <a:prstGeom prst="rect">
            <a:avLst/>
          </a:prstGeom>
          <a:noFill/>
        </p:spPr>
        <p:txBody>
          <a:bodyPr wrap="square">
            <a:spAutoFit/>
          </a:bodyPr>
          <a:lstStyle/>
          <a:p>
            <a:pPr algn="ctr"/>
            <a:r>
              <a:rPr sz="1500" b="1" i="0">
                <a:solidFill>
                  <a:srgbClr val="C9A84C"/>
                </a:solidFill>
              </a:rPr>
              <a:t>SPACE CORPS</a:t>
            </a:r>
          </a:p>
        </p:txBody>
      </p:sp>
      <p:sp>
        <p:nvSpPr>
          <p:cNvPr id="23" name="TextBox 22"/>
          <p:cNvSpPr txBox="1"/>
          <p:nvPr/>
        </p:nvSpPr>
        <p:spPr>
          <a:xfrm>
            <a:off x="4526280" y="2606040"/>
            <a:ext cx="3108960" cy="502920"/>
          </a:xfrm>
          <a:prstGeom prst="rect">
            <a:avLst/>
          </a:prstGeom>
          <a:noFill/>
        </p:spPr>
        <p:txBody>
          <a:bodyPr wrap="square">
            <a:spAutoFit/>
          </a:bodyPr>
          <a:lstStyle/>
          <a:p>
            <a:pPr algn="l"/>
            <a:r>
              <a:rPr sz="1150" b="0" i="0">
                <a:solidFill>
                  <a:srgbClr val="FFFFFF"/>
                </a:solidFill>
              </a:rPr>
              <a:t>Payload integration</a:t>
            </a:r>
          </a:p>
        </p:txBody>
      </p:sp>
      <p:sp>
        <p:nvSpPr>
          <p:cNvPr id="24" name="TextBox 23"/>
          <p:cNvSpPr txBox="1"/>
          <p:nvPr/>
        </p:nvSpPr>
        <p:spPr>
          <a:xfrm>
            <a:off x="4526280" y="3200400"/>
            <a:ext cx="3108960" cy="502920"/>
          </a:xfrm>
          <a:prstGeom prst="rect">
            <a:avLst/>
          </a:prstGeom>
          <a:noFill/>
        </p:spPr>
        <p:txBody>
          <a:bodyPr wrap="square">
            <a:spAutoFit/>
          </a:bodyPr>
          <a:lstStyle/>
          <a:p>
            <a:pPr algn="l"/>
            <a:r>
              <a:rPr sz="1150" b="0" i="0">
                <a:solidFill>
                  <a:srgbClr val="FFFFFF"/>
                </a:solidFill>
              </a:rPr>
              <a:t>Launch vehicle coordination</a:t>
            </a:r>
          </a:p>
        </p:txBody>
      </p:sp>
      <p:sp>
        <p:nvSpPr>
          <p:cNvPr id="25" name="TextBox 24"/>
          <p:cNvSpPr txBox="1"/>
          <p:nvPr/>
        </p:nvSpPr>
        <p:spPr>
          <a:xfrm>
            <a:off x="4526280" y="3794760"/>
            <a:ext cx="3108960" cy="502920"/>
          </a:xfrm>
          <a:prstGeom prst="rect">
            <a:avLst/>
          </a:prstGeom>
          <a:noFill/>
        </p:spPr>
        <p:txBody>
          <a:bodyPr wrap="square">
            <a:spAutoFit/>
          </a:bodyPr>
          <a:lstStyle/>
          <a:p>
            <a:pPr algn="l"/>
            <a:r>
              <a:rPr sz="1150" b="0" i="0">
                <a:solidFill>
                  <a:srgbClr val="FFFFFF"/>
                </a:solidFill>
              </a:rPr>
              <a:t>FAA licensing and compliance</a:t>
            </a:r>
          </a:p>
        </p:txBody>
      </p:sp>
      <p:sp>
        <p:nvSpPr>
          <p:cNvPr id="26" name="TextBox 25"/>
          <p:cNvSpPr txBox="1"/>
          <p:nvPr/>
        </p:nvSpPr>
        <p:spPr>
          <a:xfrm>
            <a:off x="4526280" y="4389120"/>
            <a:ext cx="3108960" cy="502920"/>
          </a:xfrm>
          <a:prstGeom prst="rect">
            <a:avLst/>
          </a:prstGeom>
          <a:noFill/>
        </p:spPr>
        <p:txBody>
          <a:bodyPr wrap="square">
            <a:spAutoFit/>
          </a:bodyPr>
          <a:lstStyle/>
          <a:p>
            <a:pPr algn="l"/>
            <a:r>
              <a:rPr sz="1150" b="0" i="0">
                <a:solidFill>
                  <a:srgbClr val="FFFFFF"/>
                </a:solidFill>
              </a:rPr>
              <a:t>Orbital deployment</a:t>
            </a:r>
          </a:p>
        </p:txBody>
      </p:sp>
      <p:sp>
        <p:nvSpPr>
          <p:cNvPr id="27" name="TextBox 26"/>
          <p:cNvSpPr txBox="1"/>
          <p:nvPr/>
        </p:nvSpPr>
        <p:spPr>
          <a:xfrm>
            <a:off x="4526280" y="4983480"/>
            <a:ext cx="3108960" cy="502920"/>
          </a:xfrm>
          <a:prstGeom prst="rect">
            <a:avLst/>
          </a:prstGeom>
          <a:noFill/>
        </p:spPr>
        <p:txBody>
          <a:bodyPr wrap="square">
            <a:spAutoFit/>
          </a:bodyPr>
          <a:lstStyle/>
          <a:p>
            <a:pPr algn="l"/>
            <a:r>
              <a:rPr sz="1150" b="0" i="0">
                <a:solidFill>
                  <a:srgbClr val="FFFFFF"/>
                </a:solidFill>
              </a:rPr>
              <a:t>Telemetry and memorial services</a:t>
            </a:r>
          </a:p>
        </p:txBody>
      </p:sp>
      <p:sp>
        <p:nvSpPr>
          <p:cNvPr id="28" name="TextBox 27"/>
          <p:cNvSpPr txBox="1"/>
          <p:nvPr/>
        </p:nvSpPr>
        <p:spPr>
          <a:xfrm>
            <a:off x="7863840" y="3840480"/>
            <a:ext cx="274320" cy="365760"/>
          </a:xfrm>
          <a:prstGeom prst="rect">
            <a:avLst/>
          </a:prstGeom>
          <a:noFill/>
        </p:spPr>
        <p:txBody>
          <a:bodyPr wrap="square">
            <a:spAutoFit/>
          </a:bodyPr>
          <a:lstStyle/>
          <a:p>
            <a:pPr algn="ctr"/>
            <a:r>
              <a:rPr sz="2000" b="1" i="0">
                <a:solidFill>
                  <a:srgbClr val="C9A84C"/>
                </a:solidFill>
              </a:rPr>
              <a:t>&gt;</a:t>
            </a:r>
          </a:p>
        </p:txBody>
      </p:sp>
      <p:sp>
        <p:nvSpPr>
          <p:cNvPr id="29" name="Rectangle 28"/>
          <p:cNvSpPr/>
          <p:nvPr/>
        </p:nvSpPr>
        <p:spPr>
          <a:xfrm>
            <a:off x="8138160" y="1828800"/>
            <a:ext cx="3474720" cy="4297680"/>
          </a:xfrm>
          <a:prstGeom prst="rect">
            <a:avLst/>
          </a:prstGeom>
          <a:solidFill>
            <a:srgbClr val="1016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8138160" y="1828800"/>
            <a:ext cx="3474720" cy="502920"/>
          </a:xfrm>
          <a:prstGeom prst="rect">
            <a:avLst/>
          </a:prstGeom>
          <a:solidFill>
            <a:srgbClr val="2010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275320" y="1828800"/>
            <a:ext cx="3200400" cy="274320"/>
          </a:xfrm>
          <a:prstGeom prst="rect">
            <a:avLst/>
          </a:prstGeom>
          <a:noFill/>
        </p:spPr>
        <p:txBody>
          <a:bodyPr wrap="square">
            <a:spAutoFit/>
          </a:bodyPr>
          <a:lstStyle/>
          <a:p>
            <a:pPr algn="ctr"/>
            <a:r>
              <a:rPr sz="1000" b="1" i="0">
                <a:solidFill>
                  <a:srgbClr val="FFFFFF"/>
                </a:solidFill>
              </a:rPr>
              <a:t>PHASE 3</a:t>
            </a:r>
          </a:p>
        </p:txBody>
      </p:sp>
      <p:sp>
        <p:nvSpPr>
          <p:cNvPr id="32" name="TextBox 31"/>
          <p:cNvSpPr txBox="1"/>
          <p:nvPr/>
        </p:nvSpPr>
        <p:spPr>
          <a:xfrm>
            <a:off x="8275320" y="2103120"/>
            <a:ext cx="3200400" cy="365760"/>
          </a:xfrm>
          <a:prstGeom prst="rect">
            <a:avLst/>
          </a:prstGeom>
          <a:noFill/>
        </p:spPr>
        <p:txBody>
          <a:bodyPr wrap="square">
            <a:spAutoFit/>
          </a:bodyPr>
          <a:lstStyle/>
          <a:p>
            <a:pPr algn="ctr"/>
            <a:r>
              <a:rPr sz="1500" b="1" i="0">
                <a:solidFill>
                  <a:srgbClr val="C9A84C"/>
                </a:solidFill>
              </a:rPr>
              <a:t>FOREVER</a:t>
            </a:r>
          </a:p>
        </p:txBody>
      </p:sp>
      <p:sp>
        <p:nvSpPr>
          <p:cNvPr id="33" name="TextBox 32"/>
          <p:cNvSpPr txBox="1"/>
          <p:nvPr/>
        </p:nvSpPr>
        <p:spPr>
          <a:xfrm>
            <a:off x="8321040" y="2606040"/>
            <a:ext cx="3108960" cy="502920"/>
          </a:xfrm>
          <a:prstGeom prst="rect">
            <a:avLst/>
          </a:prstGeom>
          <a:noFill/>
        </p:spPr>
        <p:txBody>
          <a:bodyPr wrap="square">
            <a:spAutoFit/>
          </a:bodyPr>
          <a:lstStyle/>
          <a:p>
            <a:pPr algn="l"/>
            <a:r>
              <a:rPr sz="1150" b="0" i="0">
                <a:solidFill>
                  <a:srgbClr val="FFFFFF"/>
                </a:solidFill>
              </a:rPr>
              <a:t>Solar powered active cooling</a:t>
            </a:r>
          </a:p>
        </p:txBody>
      </p:sp>
      <p:sp>
        <p:nvSpPr>
          <p:cNvPr id="34" name="TextBox 33"/>
          <p:cNvSpPr txBox="1"/>
          <p:nvPr/>
        </p:nvSpPr>
        <p:spPr>
          <a:xfrm>
            <a:off x="8321040" y="3200400"/>
            <a:ext cx="3108960" cy="502920"/>
          </a:xfrm>
          <a:prstGeom prst="rect">
            <a:avLst/>
          </a:prstGeom>
          <a:noFill/>
        </p:spPr>
        <p:txBody>
          <a:bodyPr wrap="square">
            <a:spAutoFit/>
          </a:bodyPr>
          <a:lstStyle/>
          <a:p>
            <a:pPr algn="l"/>
            <a:r>
              <a:rPr sz="1150" b="0" i="0">
                <a:solidFill>
                  <a:srgbClr val="FFFFFF"/>
                </a:solidFill>
              </a:rPr>
              <a:t>Autonomous thermal management</a:t>
            </a:r>
          </a:p>
        </p:txBody>
      </p:sp>
      <p:sp>
        <p:nvSpPr>
          <p:cNvPr id="35" name="TextBox 34"/>
          <p:cNvSpPr txBox="1"/>
          <p:nvPr/>
        </p:nvSpPr>
        <p:spPr>
          <a:xfrm>
            <a:off x="8321040" y="3794760"/>
            <a:ext cx="3108960" cy="502920"/>
          </a:xfrm>
          <a:prstGeom prst="rect">
            <a:avLst/>
          </a:prstGeom>
          <a:noFill/>
        </p:spPr>
        <p:txBody>
          <a:bodyPr wrap="square">
            <a:spAutoFit/>
          </a:bodyPr>
          <a:lstStyle/>
          <a:p>
            <a:pPr algn="l"/>
            <a:r>
              <a:rPr sz="1150" b="0" i="0">
                <a:solidFill>
                  <a:srgbClr val="FFFFFF"/>
                </a:solidFill>
              </a:rPr>
              <a:t>Heliocentric orbit: no decay</a:t>
            </a:r>
          </a:p>
        </p:txBody>
      </p:sp>
      <p:sp>
        <p:nvSpPr>
          <p:cNvPr id="36" name="TextBox 35"/>
          <p:cNvSpPr txBox="1"/>
          <p:nvPr/>
        </p:nvSpPr>
        <p:spPr>
          <a:xfrm>
            <a:off x="8321040" y="4389120"/>
            <a:ext cx="3108960" cy="502920"/>
          </a:xfrm>
          <a:prstGeom prst="rect">
            <a:avLst/>
          </a:prstGeom>
          <a:noFill/>
        </p:spPr>
        <p:txBody>
          <a:bodyPr wrap="square">
            <a:spAutoFit/>
          </a:bodyPr>
          <a:lstStyle/>
          <a:p>
            <a:pPr algn="l"/>
            <a:r>
              <a:rPr sz="1150" b="0" i="0">
                <a:solidFill>
                  <a:srgbClr val="FFFFFF"/>
                </a:solidFill>
              </a:rPr>
              <a:t>No LN2, no staff, no dependency</a:t>
            </a:r>
          </a:p>
        </p:txBody>
      </p:sp>
      <p:sp>
        <p:nvSpPr>
          <p:cNvPr id="37" name="TextBox 36"/>
          <p:cNvSpPr txBox="1"/>
          <p:nvPr/>
        </p:nvSpPr>
        <p:spPr>
          <a:xfrm>
            <a:off x="8321040" y="4983480"/>
            <a:ext cx="3108960" cy="502920"/>
          </a:xfrm>
          <a:prstGeom prst="rect">
            <a:avLst/>
          </a:prstGeom>
          <a:noFill/>
        </p:spPr>
        <p:txBody>
          <a:bodyPr wrap="square">
            <a:spAutoFit/>
          </a:bodyPr>
          <a:lstStyle/>
          <a:p>
            <a:pPr algn="l"/>
            <a:r>
              <a:rPr sz="1150" b="0" i="0">
                <a:solidFill>
                  <a:srgbClr val="FFFFFF"/>
                </a:solidFill>
              </a:rPr>
              <a:t>Permanent beyond any institution</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0A0F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73152" cy="6858000"/>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548640" y="1051560"/>
            <a:ext cx="11064240" cy="36576"/>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247120" y="6492240"/>
            <a:ext cx="731520" cy="274320"/>
          </a:xfrm>
          <a:prstGeom prst="rect">
            <a:avLst/>
          </a:prstGeom>
          <a:noFill/>
        </p:spPr>
        <p:txBody>
          <a:bodyPr wrap="square">
            <a:spAutoFit/>
          </a:bodyPr>
          <a:lstStyle/>
          <a:p>
            <a:pPr algn="r"/>
            <a:r>
              <a:rPr sz="900" b="0" i="0">
                <a:solidFill>
                  <a:srgbClr val="888899"/>
                </a:solidFill>
              </a:rPr>
              <a:t>7 / 12</a:t>
            </a:r>
          </a:p>
        </p:txBody>
      </p:sp>
      <p:sp>
        <p:nvSpPr>
          <p:cNvPr id="6" name="TextBox 5"/>
          <p:cNvSpPr txBox="1"/>
          <p:nvPr/>
        </p:nvSpPr>
        <p:spPr>
          <a:xfrm>
            <a:off x="548640" y="6492240"/>
            <a:ext cx="5486400" cy="274320"/>
          </a:xfrm>
          <a:prstGeom prst="rect">
            <a:avLst/>
          </a:prstGeom>
          <a:noFill/>
        </p:spPr>
        <p:txBody>
          <a:bodyPr wrap="square">
            <a:spAutoFit/>
          </a:bodyPr>
          <a:lstStyle/>
          <a:p>
            <a:pPr algn="l"/>
            <a:r>
              <a:rPr sz="900" b="0" i="0">
                <a:solidFill>
                  <a:srgbClr val="888899"/>
                </a:solidFill>
              </a:rPr>
              <a:t>SPACE CORPS  |  BEYOND EARTH</a:t>
            </a:r>
          </a:p>
        </p:txBody>
      </p:sp>
      <p:sp>
        <p:nvSpPr>
          <p:cNvPr id="7" name="TextBox 6"/>
          <p:cNvSpPr txBox="1"/>
          <p:nvPr/>
        </p:nvSpPr>
        <p:spPr>
          <a:xfrm>
            <a:off x="548640" y="274320"/>
            <a:ext cx="10972800" cy="731520"/>
          </a:xfrm>
          <a:prstGeom prst="rect">
            <a:avLst/>
          </a:prstGeom>
          <a:noFill/>
        </p:spPr>
        <p:txBody>
          <a:bodyPr wrap="square">
            <a:spAutoFit/>
          </a:bodyPr>
          <a:lstStyle/>
          <a:p>
            <a:pPr algn="l"/>
            <a:r>
              <a:rPr sz="3200" b="1" i="0">
                <a:solidFill>
                  <a:srgbClr val="FFFFFF"/>
                </a:solidFill>
              </a:rPr>
              <a:t>What Alcor Members Gain</a:t>
            </a:r>
          </a:p>
        </p:txBody>
      </p:sp>
      <p:sp>
        <p:nvSpPr>
          <p:cNvPr id="8" name="TextBox 7"/>
          <p:cNvSpPr txBox="1"/>
          <p:nvPr/>
        </p:nvSpPr>
        <p:spPr>
          <a:xfrm>
            <a:off x="548640" y="1097280"/>
            <a:ext cx="10972800" cy="457200"/>
          </a:xfrm>
          <a:prstGeom prst="rect">
            <a:avLst/>
          </a:prstGeom>
          <a:noFill/>
        </p:spPr>
        <p:txBody>
          <a:bodyPr wrap="square">
            <a:spAutoFit/>
          </a:bodyPr>
          <a:lstStyle/>
          <a:p>
            <a:pPr algn="l"/>
            <a:r>
              <a:rPr sz="1800" b="0" i="1">
                <a:solidFill>
                  <a:srgbClr val="C9A84C"/>
                </a:solidFill>
              </a:rPr>
              <a:t>A premium tier unlike anything available on Earth.</a:t>
            </a:r>
          </a:p>
        </p:txBody>
      </p:sp>
      <p:sp>
        <p:nvSpPr>
          <p:cNvPr id="9" name="Rectangle 8"/>
          <p:cNvSpPr/>
          <p:nvPr/>
        </p:nvSpPr>
        <p:spPr>
          <a:xfrm>
            <a:off x="548640" y="1783080"/>
            <a:ext cx="5394960" cy="1371600"/>
          </a:xfrm>
          <a:prstGeom prst="rect">
            <a:avLst/>
          </a:prstGeom>
          <a:solidFill>
            <a:srgbClr val="1016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783080"/>
            <a:ext cx="54864" cy="1371600"/>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1874519"/>
            <a:ext cx="5029200" cy="411480"/>
          </a:xfrm>
          <a:prstGeom prst="rect">
            <a:avLst/>
          </a:prstGeom>
          <a:noFill/>
        </p:spPr>
        <p:txBody>
          <a:bodyPr wrap="square">
            <a:spAutoFit/>
          </a:bodyPr>
          <a:lstStyle/>
          <a:p>
            <a:pPr algn="l"/>
            <a:r>
              <a:rPr sz="1300" b="1" i="0">
                <a:solidFill>
                  <a:srgbClr val="C9A84C"/>
                </a:solidFill>
              </a:rPr>
              <a:t>True Permanence</a:t>
            </a:r>
          </a:p>
        </p:txBody>
      </p:sp>
      <p:sp>
        <p:nvSpPr>
          <p:cNvPr id="12" name="TextBox 11"/>
          <p:cNvSpPr txBox="1"/>
          <p:nvPr/>
        </p:nvSpPr>
        <p:spPr>
          <a:xfrm>
            <a:off x="731520" y="2286000"/>
            <a:ext cx="5029200" cy="731520"/>
          </a:xfrm>
          <a:prstGeom prst="rect">
            <a:avLst/>
          </a:prstGeom>
          <a:noFill/>
        </p:spPr>
        <p:txBody>
          <a:bodyPr wrap="square">
            <a:spAutoFit/>
          </a:bodyPr>
          <a:lstStyle/>
          <a:p>
            <a:pPr algn="l"/>
            <a:r>
              <a:rPr sz="1150" b="0" i="0">
                <a:solidFill>
                  <a:srgbClr val="D0D0D0"/>
                </a:solidFill>
              </a:rPr>
              <a:t>No institution needs to survive. The spacecraft operates autonomously for as long as the Sun shines.</a:t>
            </a:r>
          </a:p>
        </p:txBody>
      </p:sp>
      <p:sp>
        <p:nvSpPr>
          <p:cNvPr id="13" name="Rectangle 12"/>
          <p:cNvSpPr/>
          <p:nvPr/>
        </p:nvSpPr>
        <p:spPr>
          <a:xfrm>
            <a:off x="6309359" y="1783080"/>
            <a:ext cx="5394960" cy="1371600"/>
          </a:xfrm>
          <a:prstGeom prst="rect">
            <a:avLst/>
          </a:prstGeom>
          <a:solidFill>
            <a:srgbClr val="1016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309359" y="1783080"/>
            <a:ext cx="54864" cy="1371600"/>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92240" y="1874519"/>
            <a:ext cx="5029200" cy="411480"/>
          </a:xfrm>
          <a:prstGeom prst="rect">
            <a:avLst/>
          </a:prstGeom>
          <a:noFill/>
        </p:spPr>
        <p:txBody>
          <a:bodyPr wrap="square">
            <a:spAutoFit/>
          </a:bodyPr>
          <a:lstStyle/>
          <a:p>
            <a:pPr algn="l"/>
            <a:r>
              <a:rPr sz="1300" b="1" i="0">
                <a:solidFill>
                  <a:srgbClr val="C9A84C"/>
                </a:solidFill>
              </a:rPr>
              <a:t>Jurisdiction Freedom</a:t>
            </a:r>
          </a:p>
        </p:txBody>
      </p:sp>
      <p:sp>
        <p:nvSpPr>
          <p:cNvPr id="16" name="TextBox 15"/>
          <p:cNvSpPr txBox="1"/>
          <p:nvPr/>
        </p:nvSpPr>
        <p:spPr>
          <a:xfrm>
            <a:off x="6492240" y="2286000"/>
            <a:ext cx="5029200" cy="731520"/>
          </a:xfrm>
          <a:prstGeom prst="rect">
            <a:avLst/>
          </a:prstGeom>
          <a:noFill/>
        </p:spPr>
        <p:txBody>
          <a:bodyPr wrap="square">
            <a:spAutoFit/>
          </a:bodyPr>
          <a:lstStyle/>
          <a:p>
            <a:pPr algn="l"/>
            <a:r>
              <a:rPr sz="1150" b="0" i="0">
                <a:solidFill>
                  <a:srgbClr val="D0D0D0"/>
                </a:solidFill>
              </a:rPr>
              <a:t>Above all national airspace. No court order, no government mandate, no regulatory change can reach orbit.</a:t>
            </a:r>
          </a:p>
        </p:txBody>
      </p:sp>
      <p:sp>
        <p:nvSpPr>
          <p:cNvPr id="17" name="Rectangle 16"/>
          <p:cNvSpPr/>
          <p:nvPr/>
        </p:nvSpPr>
        <p:spPr>
          <a:xfrm>
            <a:off x="548640" y="3337560"/>
            <a:ext cx="5394960" cy="1371600"/>
          </a:xfrm>
          <a:prstGeom prst="rect">
            <a:avLst/>
          </a:prstGeom>
          <a:solidFill>
            <a:srgbClr val="1016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548640" y="3337560"/>
            <a:ext cx="54864" cy="1371600"/>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31520" y="3429000"/>
            <a:ext cx="5029200" cy="411480"/>
          </a:xfrm>
          <a:prstGeom prst="rect">
            <a:avLst/>
          </a:prstGeom>
          <a:noFill/>
        </p:spPr>
        <p:txBody>
          <a:bodyPr wrap="square">
            <a:spAutoFit/>
          </a:bodyPr>
          <a:lstStyle/>
          <a:p>
            <a:pPr algn="l"/>
            <a:r>
              <a:rPr sz="1300" b="1" i="0">
                <a:solidFill>
                  <a:srgbClr val="C9A84C"/>
                </a:solidFill>
              </a:rPr>
              <a:t>Zero Consumable Risk</a:t>
            </a:r>
          </a:p>
        </p:txBody>
      </p:sp>
      <p:sp>
        <p:nvSpPr>
          <p:cNvPr id="20" name="TextBox 19"/>
          <p:cNvSpPr txBox="1"/>
          <p:nvPr/>
        </p:nvSpPr>
        <p:spPr>
          <a:xfrm>
            <a:off x="731520" y="3840480"/>
            <a:ext cx="5029200" cy="731520"/>
          </a:xfrm>
          <a:prstGeom prst="rect">
            <a:avLst/>
          </a:prstGeom>
          <a:noFill/>
        </p:spPr>
        <p:txBody>
          <a:bodyPr wrap="square">
            <a:spAutoFit/>
          </a:bodyPr>
          <a:lstStyle/>
          <a:p>
            <a:pPr algn="l"/>
            <a:r>
              <a:rPr sz="1150" b="0" i="0">
                <a:solidFill>
                  <a:srgbClr val="D0D0D0"/>
                </a:solidFill>
              </a:rPr>
              <a:t>No liquid nitrogen to run out. No facility to maintain. No staff to pay. Solar powered and self sufficient.</a:t>
            </a:r>
          </a:p>
        </p:txBody>
      </p:sp>
      <p:sp>
        <p:nvSpPr>
          <p:cNvPr id="21" name="Rectangle 20"/>
          <p:cNvSpPr/>
          <p:nvPr/>
        </p:nvSpPr>
        <p:spPr>
          <a:xfrm>
            <a:off x="6309359" y="3337560"/>
            <a:ext cx="5394960" cy="1371600"/>
          </a:xfrm>
          <a:prstGeom prst="rect">
            <a:avLst/>
          </a:prstGeom>
          <a:solidFill>
            <a:srgbClr val="1016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309359" y="3337560"/>
            <a:ext cx="54864" cy="1371600"/>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492240" y="3429000"/>
            <a:ext cx="5029200" cy="411480"/>
          </a:xfrm>
          <a:prstGeom prst="rect">
            <a:avLst/>
          </a:prstGeom>
          <a:noFill/>
        </p:spPr>
        <p:txBody>
          <a:bodyPr wrap="square">
            <a:spAutoFit/>
          </a:bodyPr>
          <a:lstStyle/>
          <a:p>
            <a:pPr algn="l"/>
            <a:r>
              <a:rPr sz="1300" b="1" i="0">
                <a:solidFill>
                  <a:srgbClr val="C9A84C"/>
                </a:solidFill>
              </a:rPr>
              <a:t>Scientific Credibility</a:t>
            </a:r>
          </a:p>
        </p:txBody>
      </p:sp>
      <p:sp>
        <p:nvSpPr>
          <p:cNvPr id="24" name="TextBox 23"/>
          <p:cNvSpPr txBox="1"/>
          <p:nvPr/>
        </p:nvSpPr>
        <p:spPr>
          <a:xfrm>
            <a:off x="6492240" y="3840480"/>
            <a:ext cx="5029200" cy="731520"/>
          </a:xfrm>
          <a:prstGeom prst="rect">
            <a:avLst/>
          </a:prstGeom>
          <a:noFill/>
        </p:spPr>
        <p:txBody>
          <a:bodyPr wrap="square">
            <a:spAutoFit/>
          </a:bodyPr>
          <a:lstStyle/>
          <a:p>
            <a:pPr algn="l"/>
            <a:r>
              <a:rPr sz="1150" b="0" i="0">
                <a:solidFill>
                  <a:srgbClr val="D0D0D0"/>
                </a:solidFill>
              </a:rPr>
              <a:t>Real aerospace hardware. Telemetry feeds. A mission that the world can track and verify in real time.</a:t>
            </a:r>
          </a:p>
        </p:txBody>
      </p:sp>
      <p:sp>
        <p:nvSpPr>
          <p:cNvPr id="25" name="Rectangle 24"/>
          <p:cNvSpPr/>
          <p:nvPr/>
        </p:nvSpPr>
        <p:spPr>
          <a:xfrm>
            <a:off x="548640" y="4892040"/>
            <a:ext cx="5394960" cy="1371600"/>
          </a:xfrm>
          <a:prstGeom prst="rect">
            <a:avLst/>
          </a:prstGeom>
          <a:solidFill>
            <a:srgbClr val="1016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548640" y="4892040"/>
            <a:ext cx="54864" cy="1371600"/>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31520" y="4983479"/>
            <a:ext cx="5029200" cy="411480"/>
          </a:xfrm>
          <a:prstGeom prst="rect">
            <a:avLst/>
          </a:prstGeom>
          <a:noFill/>
        </p:spPr>
        <p:txBody>
          <a:bodyPr wrap="square">
            <a:spAutoFit/>
          </a:bodyPr>
          <a:lstStyle/>
          <a:p>
            <a:pPr algn="l"/>
            <a:r>
              <a:rPr sz="1300" b="1" i="0">
                <a:solidFill>
                  <a:srgbClr val="C9A84C"/>
                </a:solidFill>
              </a:rPr>
              <a:t>Memorial Legacy</a:t>
            </a:r>
          </a:p>
        </p:txBody>
      </p:sp>
      <p:sp>
        <p:nvSpPr>
          <p:cNvPr id="28" name="TextBox 27"/>
          <p:cNvSpPr txBox="1"/>
          <p:nvPr/>
        </p:nvSpPr>
        <p:spPr>
          <a:xfrm>
            <a:off x="731520" y="5394959"/>
            <a:ext cx="5029200" cy="731520"/>
          </a:xfrm>
          <a:prstGeom prst="rect">
            <a:avLst/>
          </a:prstGeom>
          <a:noFill/>
        </p:spPr>
        <p:txBody>
          <a:bodyPr wrap="square">
            <a:spAutoFit/>
          </a:bodyPr>
          <a:lstStyle/>
          <a:p>
            <a:pPr algn="l"/>
            <a:r>
              <a:rPr sz="1150" b="0" i="0">
                <a:solidFill>
                  <a:srgbClr val="D0D0D0"/>
                </a:solidFill>
              </a:rPr>
              <a:t>A permanent memorial page, live orbital tracking, and a story that will be told for generations.</a:t>
            </a:r>
          </a:p>
        </p:txBody>
      </p:sp>
      <p:sp>
        <p:nvSpPr>
          <p:cNvPr id="29" name="Rectangle 28"/>
          <p:cNvSpPr/>
          <p:nvPr/>
        </p:nvSpPr>
        <p:spPr>
          <a:xfrm>
            <a:off x="6309359" y="4892040"/>
            <a:ext cx="5394960" cy="1371600"/>
          </a:xfrm>
          <a:prstGeom prst="rect">
            <a:avLst/>
          </a:prstGeom>
          <a:solidFill>
            <a:srgbClr val="1016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6309359" y="4892040"/>
            <a:ext cx="54864" cy="1371600"/>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492240" y="4983479"/>
            <a:ext cx="5029200" cy="411480"/>
          </a:xfrm>
          <a:prstGeom prst="rect">
            <a:avLst/>
          </a:prstGeom>
          <a:noFill/>
        </p:spPr>
        <p:txBody>
          <a:bodyPr wrap="square">
            <a:spAutoFit/>
          </a:bodyPr>
          <a:lstStyle/>
          <a:p>
            <a:pPr algn="l"/>
            <a:r>
              <a:rPr sz="1300" b="1" i="0">
                <a:solidFill>
                  <a:srgbClr val="C9A84C"/>
                </a:solidFill>
              </a:rPr>
              <a:t>Premium Positioning</a:t>
            </a:r>
          </a:p>
        </p:txBody>
      </p:sp>
      <p:sp>
        <p:nvSpPr>
          <p:cNvPr id="32" name="TextBox 31"/>
          <p:cNvSpPr txBox="1"/>
          <p:nvPr/>
        </p:nvSpPr>
        <p:spPr>
          <a:xfrm>
            <a:off x="6492240" y="5394959"/>
            <a:ext cx="5029200" cy="731520"/>
          </a:xfrm>
          <a:prstGeom prst="rect">
            <a:avLst/>
          </a:prstGeom>
          <a:noFill/>
        </p:spPr>
        <p:txBody>
          <a:bodyPr wrap="square">
            <a:spAutoFit/>
          </a:bodyPr>
          <a:lstStyle/>
          <a:p>
            <a:pPr algn="l"/>
            <a:r>
              <a:rPr sz="1150" b="0" i="0">
                <a:solidFill>
                  <a:srgbClr val="D0D0D0"/>
                </a:solidFill>
              </a:rPr>
              <a:t>Alcor can offer a tier no competitor on Earth can match. The ultimate expression of the cryonics mission.</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0A0F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73152" cy="6858000"/>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548640" y="1051560"/>
            <a:ext cx="11064240" cy="36576"/>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247120" y="6492240"/>
            <a:ext cx="731520" cy="274320"/>
          </a:xfrm>
          <a:prstGeom prst="rect">
            <a:avLst/>
          </a:prstGeom>
          <a:noFill/>
        </p:spPr>
        <p:txBody>
          <a:bodyPr wrap="square">
            <a:spAutoFit/>
          </a:bodyPr>
          <a:lstStyle/>
          <a:p>
            <a:pPr algn="r"/>
            <a:r>
              <a:rPr sz="900" b="0" i="0">
                <a:solidFill>
                  <a:srgbClr val="888899"/>
                </a:solidFill>
              </a:rPr>
              <a:t>8 / 12</a:t>
            </a:r>
          </a:p>
        </p:txBody>
      </p:sp>
      <p:sp>
        <p:nvSpPr>
          <p:cNvPr id="6" name="TextBox 5"/>
          <p:cNvSpPr txBox="1"/>
          <p:nvPr/>
        </p:nvSpPr>
        <p:spPr>
          <a:xfrm>
            <a:off x="548640" y="6492240"/>
            <a:ext cx="5486400" cy="274320"/>
          </a:xfrm>
          <a:prstGeom prst="rect">
            <a:avLst/>
          </a:prstGeom>
          <a:noFill/>
        </p:spPr>
        <p:txBody>
          <a:bodyPr wrap="square">
            <a:spAutoFit/>
          </a:bodyPr>
          <a:lstStyle/>
          <a:p>
            <a:pPr algn="l"/>
            <a:r>
              <a:rPr sz="900" b="0" i="0">
                <a:solidFill>
                  <a:srgbClr val="888899"/>
                </a:solidFill>
              </a:rPr>
              <a:t>SPACE CORPS  |  BEYOND EARTH</a:t>
            </a:r>
          </a:p>
        </p:txBody>
      </p:sp>
      <p:sp>
        <p:nvSpPr>
          <p:cNvPr id="7" name="TextBox 6"/>
          <p:cNvSpPr txBox="1"/>
          <p:nvPr/>
        </p:nvSpPr>
        <p:spPr>
          <a:xfrm>
            <a:off x="548640" y="274320"/>
            <a:ext cx="10972800" cy="731520"/>
          </a:xfrm>
          <a:prstGeom prst="rect">
            <a:avLst/>
          </a:prstGeom>
          <a:noFill/>
        </p:spPr>
        <p:txBody>
          <a:bodyPr wrap="square">
            <a:spAutoFit/>
          </a:bodyPr>
          <a:lstStyle/>
          <a:p>
            <a:pPr algn="l"/>
            <a:r>
              <a:rPr sz="3200" b="1" i="0">
                <a:solidFill>
                  <a:srgbClr val="FFFFFF"/>
                </a:solidFill>
              </a:rPr>
              <a:t>Market and Pricing</a:t>
            </a:r>
          </a:p>
        </p:txBody>
      </p:sp>
      <p:sp>
        <p:nvSpPr>
          <p:cNvPr id="8" name="TextBox 7"/>
          <p:cNvSpPr txBox="1"/>
          <p:nvPr/>
        </p:nvSpPr>
        <p:spPr>
          <a:xfrm>
            <a:off x="548640" y="1097280"/>
            <a:ext cx="10972800" cy="457200"/>
          </a:xfrm>
          <a:prstGeom prst="rect">
            <a:avLst/>
          </a:prstGeom>
          <a:noFill/>
        </p:spPr>
        <p:txBody>
          <a:bodyPr wrap="square">
            <a:spAutoFit/>
          </a:bodyPr>
          <a:lstStyle/>
          <a:p>
            <a:pPr algn="l"/>
            <a:r>
              <a:rPr sz="1600" b="0" i="1">
                <a:solidFill>
                  <a:srgbClr val="C9A84C"/>
                </a:solidFill>
              </a:rPr>
              <a:t>Life insurance funded. No money changes hands until service is delivered.</a:t>
            </a:r>
          </a:p>
        </p:txBody>
      </p:sp>
      <p:sp>
        <p:nvSpPr>
          <p:cNvPr id="9" name="Rectangle 8"/>
          <p:cNvSpPr/>
          <p:nvPr/>
        </p:nvSpPr>
        <p:spPr>
          <a:xfrm>
            <a:off x="548640" y="1783080"/>
            <a:ext cx="11064240" cy="457200"/>
          </a:xfrm>
          <a:prstGeom prst="rect">
            <a:avLst/>
          </a:prstGeom>
          <a:solidFill>
            <a:srgbClr val="0A0F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1828800"/>
            <a:ext cx="1828800" cy="365760"/>
          </a:xfrm>
          <a:prstGeom prst="rect">
            <a:avLst/>
          </a:prstGeom>
          <a:noFill/>
        </p:spPr>
        <p:txBody>
          <a:bodyPr wrap="square">
            <a:spAutoFit/>
          </a:bodyPr>
          <a:lstStyle/>
          <a:p>
            <a:pPr algn="l"/>
            <a:r>
              <a:rPr sz="1200" b="1" i="0">
                <a:solidFill>
                  <a:srgbClr val="C9A84C"/>
                </a:solidFill>
              </a:rPr>
              <a:t>Preservation</a:t>
            </a:r>
          </a:p>
        </p:txBody>
      </p:sp>
      <p:sp>
        <p:nvSpPr>
          <p:cNvPr id="11" name="TextBox 10"/>
          <p:cNvSpPr txBox="1"/>
          <p:nvPr/>
        </p:nvSpPr>
        <p:spPr>
          <a:xfrm>
            <a:off x="2560320" y="1828800"/>
            <a:ext cx="2286000" cy="365760"/>
          </a:xfrm>
          <a:prstGeom prst="rect">
            <a:avLst/>
          </a:prstGeom>
          <a:noFill/>
        </p:spPr>
        <p:txBody>
          <a:bodyPr wrap="square">
            <a:spAutoFit/>
          </a:bodyPr>
          <a:lstStyle/>
          <a:p>
            <a:pPr algn="l"/>
            <a:r>
              <a:rPr sz="1200" b="1" i="0">
                <a:solidFill>
                  <a:srgbClr val="C9A84C"/>
                </a:solidFill>
              </a:rPr>
              <a:t>Orbit</a:t>
            </a:r>
          </a:p>
        </p:txBody>
      </p:sp>
      <p:sp>
        <p:nvSpPr>
          <p:cNvPr id="12" name="TextBox 11"/>
          <p:cNvSpPr txBox="1"/>
          <p:nvPr/>
        </p:nvSpPr>
        <p:spPr>
          <a:xfrm>
            <a:off x="4937760" y="1828800"/>
            <a:ext cx="1828800" cy="365760"/>
          </a:xfrm>
          <a:prstGeom prst="rect">
            <a:avLst/>
          </a:prstGeom>
          <a:noFill/>
        </p:spPr>
        <p:txBody>
          <a:bodyPr wrap="square">
            <a:spAutoFit/>
          </a:bodyPr>
          <a:lstStyle/>
          <a:p>
            <a:pPr algn="l"/>
            <a:r>
              <a:rPr sz="1200" b="1" i="0">
                <a:solidFill>
                  <a:srgbClr val="C9A84C"/>
                </a:solidFill>
              </a:rPr>
              <a:t>Price</a:t>
            </a:r>
          </a:p>
        </p:txBody>
      </p:sp>
      <p:sp>
        <p:nvSpPr>
          <p:cNvPr id="13" name="TextBox 12"/>
          <p:cNvSpPr txBox="1"/>
          <p:nvPr/>
        </p:nvSpPr>
        <p:spPr>
          <a:xfrm>
            <a:off x="6949440" y="1828800"/>
            <a:ext cx="4114800" cy="365760"/>
          </a:xfrm>
          <a:prstGeom prst="rect">
            <a:avLst/>
          </a:prstGeom>
          <a:noFill/>
        </p:spPr>
        <p:txBody>
          <a:bodyPr wrap="square">
            <a:spAutoFit/>
          </a:bodyPr>
          <a:lstStyle/>
          <a:p>
            <a:pPr algn="l"/>
            <a:r>
              <a:rPr sz="1200" b="1" i="0">
                <a:solidFill>
                  <a:srgbClr val="C9A84C"/>
                </a:solidFill>
              </a:rPr>
              <a:t>Est. Insurance Cost</a:t>
            </a:r>
          </a:p>
        </p:txBody>
      </p:sp>
      <p:sp>
        <p:nvSpPr>
          <p:cNvPr id="14" name="Rectangle 13"/>
          <p:cNvSpPr/>
          <p:nvPr/>
        </p:nvSpPr>
        <p:spPr>
          <a:xfrm>
            <a:off x="548640" y="2331720"/>
            <a:ext cx="11064240" cy="685800"/>
          </a:xfrm>
          <a:prstGeom prst="rect">
            <a:avLst/>
          </a:prstGeom>
          <a:solidFill>
            <a:srgbClr val="1016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0080" y="2468879"/>
            <a:ext cx="1828800" cy="411480"/>
          </a:xfrm>
          <a:prstGeom prst="rect">
            <a:avLst/>
          </a:prstGeom>
          <a:noFill/>
        </p:spPr>
        <p:txBody>
          <a:bodyPr wrap="square">
            <a:spAutoFit/>
          </a:bodyPr>
          <a:lstStyle/>
          <a:p>
            <a:pPr algn="l"/>
            <a:r>
              <a:rPr sz="1200" b="0" i="0">
                <a:solidFill>
                  <a:srgbClr val="FFFFFF"/>
                </a:solidFill>
              </a:rPr>
              <a:t>Neuro</a:t>
            </a:r>
          </a:p>
        </p:txBody>
      </p:sp>
      <p:sp>
        <p:nvSpPr>
          <p:cNvPr id="16" name="TextBox 15"/>
          <p:cNvSpPr txBox="1"/>
          <p:nvPr/>
        </p:nvSpPr>
        <p:spPr>
          <a:xfrm>
            <a:off x="2560320" y="2468879"/>
            <a:ext cx="2286000" cy="411480"/>
          </a:xfrm>
          <a:prstGeom prst="rect">
            <a:avLst/>
          </a:prstGeom>
          <a:noFill/>
        </p:spPr>
        <p:txBody>
          <a:bodyPr wrap="square">
            <a:spAutoFit/>
          </a:bodyPr>
          <a:lstStyle/>
          <a:p>
            <a:pPr algn="l"/>
            <a:r>
              <a:rPr sz="1200" b="0" i="0">
                <a:solidFill>
                  <a:srgbClr val="FFFFFF"/>
                </a:solidFill>
              </a:rPr>
              <a:t>Low Earth Orbit</a:t>
            </a:r>
          </a:p>
        </p:txBody>
      </p:sp>
      <p:sp>
        <p:nvSpPr>
          <p:cNvPr id="17" name="TextBox 16"/>
          <p:cNvSpPr txBox="1"/>
          <p:nvPr/>
        </p:nvSpPr>
        <p:spPr>
          <a:xfrm>
            <a:off x="4937760" y="2468879"/>
            <a:ext cx="1828800" cy="411480"/>
          </a:xfrm>
          <a:prstGeom prst="rect">
            <a:avLst/>
          </a:prstGeom>
          <a:noFill/>
        </p:spPr>
        <p:txBody>
          <a:bodyPr wrap="square">
            <a:spAutoFit/>
          </a:bodyPr>
          <a:lstStyle/>
          <a:p>
            <a:pPr algn="l"/>
            <a:r>
              <a:rPr sz="1200" b="0" i="0">
                <a:solidFill>
                  <a:srgbClr val="C9A84C"/>
                </a:solidFill>
              </a:rPr>
              <a:t>$195,000</a:t>
            </a:r>
          </a:p>
        </p:txBody>
      </p:sp>
      <p:sp>
        <p:nvSpPr>
          <p:cNvPr id="18" name="TextBox 17"/>
          <p:cNvSpPr txBox="1"/>
          <p:nvPr/>
        </p:nvSpPr>
        <p:spPr>
          <a:xfrm>
            <a:off x="6949440" y="2468879"/>
            <a:ext cx="4114800" cy="411480"/>
          </a:xfrm>
          <a:prstGeom prst="rect">
            <a:avLst/>
          </a:prstGeom>
          <a:noFill/>
        </p:spPr>
        <p:txBody>
          <a:bodyPr wrap="square">
            <a:spAutoFit/>
          </a:bodyPr>
          <a:lstStyle/>
          <a:p>
            <a:pPr algn="l"/>
            <a:r>
              <a:rPr sz="1200" b="0" i="0">
                <a:solidFill>
                  <a:srgbClr val="FFFFFF"/>
                </a:solidFill>
              </a:rPr>
              <a:t>~$115 per month in premiums</a:t>
            </a:r>
          </a:p>
        </p:txBody>
      </p:sp>
      <p:sp>
        <p:nvSpPr>
          <p:cNvPr id="19" name="Rectangle 18"/>
          <p:cNvSpPr/>
          <p:nvPr/>
        </p:nvSpPr>
        <p:spPr>
          <a:xfrm>
            <a:off x="548640" y="3108960"/>
            <a:ext cx="11064240" cy="685800"/>
          </a:xfrm>
          <a:prstGeom prst="rect">
            <a:avLst/>
          </a:prstGeom>
          <a:solidFill>
            <a:srgbClr val="141C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40080" y="3246120"/>
            <a:ext cx="1828800" cy="411480"/>
          </a:xfrm>
          <a:prstGeom prst="rect">
            <a:avLst/>
          </a:prstGeom>
          <a:noFill/>
        </p:spPr>
        <p:txBody>
          <a:bodyPr wrap="square">
            <a:spAutoFit/>
          </a:bodyPr>
          <a:lstStyle/>
          <a:p>
            <a:pPr algn="l"/>
            <a:r>
              <a:rPr sz="1200" b="0" i="0">
                <a:solidFill>
                  <a:srgbClr val="FFFFFF"/>
                </a:solidFill>
              </a:rPr>
              <a:t>Neuro</a:t>
            </a:r>
          </a:p>
        </p:txBody>
      </p:sp>
      <p:sp>
        <p:nvSpPr>
          <p:cNvPr id="21" name="TextBox 20"/>
          <p:cNvSpPr txBox="1"/>
          <p:nvPr/>
        </p:nvSpPr>
        <p:spPr>
          <a:xfrm>
            <a:off x="2560320" y="3246120"/>
            <a:ext cx="2286000" cy="411480"/>
          </a:xfrm>
          <a:prstGeom prst="rect">
            <a:avLst/>
          </a:prstGeom>
          <a:noFill/>
        </p:spPr>
        <p:txBody>
          <a:bodyPr wrap="square">
            <a:spAutoFit/>
          </a:bodyPr>
          <a:lstStyle/>
          <a:p>
            <a:pPr algn="l"/>
            <a:r>
              <a:rPr sz="1200" b="0" i="0">
                <a:solidFill>
                  <a:srgbClr val="FFFFFF"/>
                </a:solidFill>
              </a:rPr>
              <a:t>Heliocentric Orbit</a:t>
            </a:r>
          </a:p>
        </p:txBody>
      </p:sp>
      <p:sp>
        <p:nvSpPr>
          <p:cNvPr id="22" name="TextBox 21"/>
          <p:cNvSpPr txBox="1"/>
          <p:nvPr/>
        </p:nvSpPr>
        <p:spPr>
          <a:xfrm>
            <a:off x="4937760" y="3246120"/>
            <a:ext cx="1828800" cy="411480"/>
          </a:xfrm>
          <a:prstGeom prst="rect">
            <a:avLst/>
          </a:prstGeom>
          <a:noFill/>
        </p:spPr>
        <p:txBody>
          <a:bodyPr wrap="square">
            <a:spAutoFit/>
          </a:bodyPr>
          <a:lstStyle/>
          <a:p>
            <a:pPr algn="l"/>
            <a:r>
              <a:rPr sz="1200" b="0" i="0">
                <a:solidFill>
                  <a:srgbClr val="C9A84C"/>
                </a:solidFill>
              </a:rPr>
              <a:t>$295,000</a:t>
            </a:r>
          </a:p>
        </p:txBody>
      </p:sp>
      <p:sp>
        <p:nvSpPr>
          <p:cNvPr id="23" name="TextBox 22"/>
          <p:cNvSpPr txBox="1"/>
          <p:nvPr/>
        </p:nvSpPr>
        <p:spPr>
          <a:xfrm>
            <a:off x="6949440" y="3246120"/>
            <a:ext cx="4114800" cy="411480"/>
          </a:xfrm>
          <a:prstGeom prst="rect">
            <a:avLst/>
          </a:prstGeom>
          <a:noFill/>
        </p:spPr>
        <p:txBody>
          <a:bodyPr wrap="square">
            <a:spAutoFit/>
          </a:bodyPr>
          <a:lstStyle/>
          <a:p>
            <a:pPr algn="l"/>
            <a:r>
              <a:rPr sz="1200" b="0" i="0">
                <a:solidFill>
                  <a:srgbClr val="FFFFFF"/>
                </a:solidFill>
              </a:rPr>
              <a:t>~$175 per month in premiums</a:t>
            </a:r>
          </a:p>
        </p:txBody>
      </p:sp>
      <p:sp>
        <p:nvSpPr>
          <p:cNvPr id="24" name="Rectangle 23"/>
          <p:cNvSpPr/>
          <p:nvPr/>
        </p:nvSpPr>
        <p:spPr>
          <a:xfrm>
            <a:off x="548640" y="3886200"/>
            <a:ext cx="11064240" cy="685800"/>
          </a:xfrm>
          <a:prstGeom prst="rect">
            <a:avLst/>
          </a:prstGeom>
          <a:solidFill>
            <a:srgbClr val="1016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0080" y="4023360"/>
            <a:ext cx="1828800" cy="411480"/>
          </a:xfrm>
          <a:prstGeom prst="rect">
            <a:avLst/>
          </a:prstGeom>
          <a:noFill/>
        </p:spPr>
        <p:txBody>
          <a:bodyPr wrap="square">
            <a:spAutoFit/>
          </a:bodyPr>
          <a:lstStyle/>
          <a:p>
            <a:pPr algn="l"/>
            <a:r>
              <a:rPr sz="1200" b="0" i="0">
                <a:solidFill>
                  <a:srgbClr val="FFFFFF"/>
                </a:solidFill>
              </a:rPr>
              <a:t>Full Body</a:t>
            </a:r>
          </a:p>
        </p:txBody>
      </p:sp>
      <p:sp>
        <p:nvSpPr>
          <p:cNvPr id="26" name="TextBox 25"/>
          <p:cNvSpPr txBox="1"/>
          <p:nvPr/>
        </p:nvSpPr>
        <p:spPr>
          <a:xfrm>
            <a:off x="2560320" y="4023360"/>
            <a:ext cx="2286000" cy="411480"/>
          </a:xfrm>
          <a:prstGeom prst="rect">
            <a:avLst/>
          </a:prstGeom>
          <a:noFill/>
        </p:spPr>
        <p:txBody>
          <a:bodyPr wrap="square">
            <a:spAutoFit/>
          </a:bodyPr>
          <a:lstStyle/>
          <a:p>
            <a:pPr algn="l"/>
            <a:r>
              <a:rPr sz="1200" b="0" i="0">
                <a:solidFill>
                  <a:srgbClr val="FFFFFF"/>
                </a:solidFill>
              </a:rPr>
              <a:t>Low Earth Orbit</a:t>
            </a:r>
          </a:p>
        </p:txBody>
      </p:sp>
      <p:sp>
        <p:nvSpPr>
          <p:cNvPr id="27" name="TextBox 26"/>
          <p:cNvSpPr txBox="1"/>
          <p:nvPr/>
        </p:nvSpPr>
        <p:spPr>
          <a:xfrm>
            <a:off x="4937760" y="4023360"/>
            <a:ext cx="1828800" cy="411480"/>
          </a:xfrm>
          <a:prstGeom prst="rect">
            <a:avLst/>
          </a:prstGeom>
          <a:noFill/>
        </p:spPr>
        <p:txBody>
          <a:bodyPr wrap="square">
            <a:spAutoFit/>
          </a:bodyPr>
          <a:lstStyle/>
          <a:p>
            <a:pPr algn="l"/>
            <a:r>
              <a:rPr sz="1200" b="0" i="0">
                <a:solidFill>
                  <a:srgbClr val="C9A84C"/>
                </a:solidFill>
              </a:rPr>
              <a:t>$450,000</a:t>
            </a:r>
          </a:p>
        </p:txBody>
      </p:sp>
      <p:sp>
        <p:nvSpPr>
          <p:cNvPr id="28" name="TextBox 27"/>
          <p:cNvSpPr txBox="1"/>
          <p:nvPr/>
        </p:nvSpPr>
        <p:spPr>
          <a:xfrm>
            <a:off x="6949440" y="4023360"/>
            <a:ext cx="4114800" cy="411480"/>
          </a:xfrm>
          <a:prstGeom prst="rect">
            <a:avLst/>
          </a:prstGeom>
          <a:noFill/>
        </p:spPr>
        <p:txBody>
          <a:bodyPr wrap="square">
            <a:spAutoFit/>
          </a:bodyPr>
          <a:lstStyle/>
          <a:p>
            <a:pPr algn="l"/>
            <a:r>
              <a:rPr sz="1200" b="0" i="0">
                <a:solidFill>
                  <a:srgbClr val="FFFFFF"/>
                </a:solidFill>
              </a:rPr>
              <a:t>~$265 per month in premiums</a:t>
            </a:r>
          </a:p>
        </p:txBody>
      </p:sp>
      <p:sp>
        <p:nvSpPr>
          <p:cNvPr id="29" name="Rectangle 28"/>
          <p:cNvSpPr/>
          <p:nvPr/>
        </p:nvSpPr>
        <p:spPr>
          <a:xfrm>
            <a:off x="548640" y="4663440"/>
            <a:ext cx="11064240" cy="685800"/>
          </a:xfrm>
          <a:prstGeom prst="rect">
            <a:avLst/>
          </a:prstGeom>
          <a:solidFill>
            <a:srgbClr val="141C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40080" y="4800600"/>
            <a:ext cx="1828800" cy="411480"/>
          </a:xfrm>
          <a:prstGeom prst="rect">
            <a:avLst/>
          </a:prstGeom>
          <a:noFill/>
        </p:spPr>
        <p:txBody>
          <a:bodyPr wrap="square">
            <a:spAutoFit/>
          </a:bodyPr>
          <a:lstStyle/>
          <a:p>
            <a:pPr algn="l"/>
            <a:r>
              <a:rPr sz="1200" b="0" i="0">
                <a:solidFill>
                  <a:srgbClr val="FFFFFF"/>
                </a:solidFill>
              </a:rPr>
              <a:t>Full Body</a:t>
            </a:r>
          </a:p>
        </p:txBody>
      </p:sp>
      <p:sp>
        <p:nvSpPr>
          <p:cNvPr id="31" name="TextBox 30"/>
          <p:cNvSpPr txBox="1"/>
          <p:nvPr/>
        </p:nvSpPr>
        <p:spPr>
          <a:xfrm>
            <a:off x="2560320" y="4800600"/>
            <a:ext cx="2286000" cy="411480"/>
          </a:xfrm>
          <a:prstGeom prst="rect">
            <a:avLst/>
          </a:prstGeom>
          <a:noFill/>
        </p:spPr>
        <p:txBody>
          <a:bodyPr wrap="square">
            <a:spAutoFit/>
          </a:bodyPr>
          <a:lstStyle/>
          <a:p>
            <a:pPr algn="l"/>
            <a:r>
              <a:rPr sz="1200" b="0" i="0">
                <a:solidFill>
                  <a:srgbClr val="FFFFFF"/>
                </a:solidFill>
              </a:rPr>
              <a:t>Heliocentric Orbit</a:t>
            </a:r>
          </a:p>
        </p:txBody>
      </p:sp>
      <p:sp>
        <p:nvSpPr>
          <p:cNvPr id="32" name="TextBox 31"/>
          <p:cNvSpPr txBox="1"/>
          <p:nvPr/>
        </p:nvSpPr>
        <p:spPr>
          <a:xfrm>
            <a:off x="4937760" y="4800600"/>
            <a:ext cx="1828800" cy="411480"/>
          </a:xfrm>
          <a:prstGeom prst="rect">
            <a:avLst/>
          </a:prstGeom>
          <a:noFill/>
        </p:spPr>
        <p:txBody>
          <a:bodyPr wrap="square">
            <a:spAutoFit/>
          </a:bodyPr>
          <a:lstStyle/>
          <a:p>
            <a:pPr algn="l"/>
            <a:r>
              <a:rPr sz="1200" b="0" i="0">
                <a:solidFill>
                  <a:srgbClr val="C9A84C"/>
                </a:solidFill>
              </a:rPr>
              <a:t>$750,000</a:t>
            </a:r>
          </a:p>
        </p:txBody>
      </p:sp>
      <p:sp>
        <p:nvSpPr>
          <p:cNvPr id="33" name="TextBox 32"/>
          <p:cNvSpPr txBox="1"/>
          <p:nvPr/>
        </p:nvSpPr>
        <p:spPr>
          <a:xfrm>
            <a:off x="6949440" y="4800600"/>
            <a:ext cx="4114800" cy="411480"/>
          </a:xfrm>
          <a:prstGeom prst="rect">
            <a:avLst/>
          </a:prstGeom>
          <a:noFill/>
        </p:spPr>
        <p:txBody>
          <a:bodyPr wrap="square">
            <a:spAutoFit/>
          </a:bodyPr>
          <a:lstStyle/>
          <a:p>
            <a:pPr algn="l"/>
            <a:r>
              <a:rPr sz="1200" b="0" i="0">
                <a:solidFill>
                  <a:srgbClr val="FFFFFF"/>
                </a:solidFill>
              </a:rPr>
              <a:t>~$440 per month in premiums</a:t>
            </a:r>
          </a:p>
        </p:txBody>
      </p:sp>
      <p:sp>
        <p:nvSpPr>
          <p:cNvPr id="34" name="TextBox 33"/>
          <p:cNvSpPr txBox="1"/>
          <p:nvPr/>
        </p:nvSpPr>
        <p:spPr>
          <a:xfrm>
            <a:off x="548640" y="5806440"/>
            <a:ext cx="10972800" cy="457200"/>
          </a:xfrm>
          <a:prstGeom prst="rect">
            <a:avLst/>
          </a:prstGeom>
          <a:noFill/>
        </p:spPr>
        <p:txBody>
          <a:bodyPr wrap="square">
            <a:spAutoFit/>
          </a:bodyPr>
          <a:lstStyle/>
          <a:p>
            <a:pPr algn="l"/>
            <a:r>
              <a:rPr sz="1100" b="0" i="1">
                <a:solidFill>
                  <a:srgbClr val="888899"/>
                </a:solidFill>
              </a:rPr>
              <a:t>Break even: 9 payloads per spacecraft at $275,000 average. Base case: 10 payloads, $450,000 mission profit.</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0A0F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73152" cy="6858000"/>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548640" y="1051560"/>
            <a:ext cx="11064240" cy="36576"/>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247120" y="6492240"/>
            <a:ext cx="731520" cy="274320"/>
          </a:xfrm>
          <a:prstGeom prst="rect">
            <a:avLst/>
          </a:prstGeom>
          <a:noFill/>
        </p:spPr>
        <p:txBody>
          <a:bodyPr wrap="square">
            <a:spAutoFit/>
          </a:bodyPr>
          <a:lstStyle/>
          <a:p>
            <a:pPr algn="r"/>
            <a:r>
              <a:rPr sz="900" b="0" i="0">
                <a:solidFill>
                  <a:srgbClr val="888899"/>
                </a:solidFill>
              </a:rPr>
              <a:t>9 / 12</a:t>
            </a:r>
          </a:p>
        </p:txBody>
      </p:sp>
      <p:sp>
        <p:nvSpPr>
          <p:cNvPr id="6" name="TextBox 5"/>
          <p:cNvSpPr txBox="1"/>
          <p:nvPr/>
        </p:nvSpPr>
        <p:spPr>
          <a:xfrm>
            <a:off x="548640" y="6492240"/>
            <a:ext cx="5486400" cy="274320"/>
          </a:xfrm>
          <a:prstGeom prst="rect">
            <a:avLst/>
          </a:prstGeom>
          <a:noFill/>
        </p:spPr>
        <p:txBody>
          <a:bodyPr wrap="square">
            <a:spAutoFit/>
          </a:bodyPr>
          <a:lstStyle/>
          <a:p>
            <a:pPr algn="l"/>
            <a:r>
              <a:rPr sz="900" b="0" i="0">
                <a:solidFill>
                  <a:srgbClr val="888899"/>
                </a:solidFill>
              </a:rPr>
              <a:t>SPACE CORPS  |  BEYOND EARTH</a:t>
            </a:r>
          </a:p>
        </p:txBody>
      </p:sp>
      <p:sp>
        <p:nvSpPr>
          <p:cNvPr id="7" name="TextBox 6"/>
          <p:cNvSpPr txBox="1"/>
          <p:nvPr/>
        </p:nvSpPr>
        <p:spPr>
          <a:xfrm>
            <a:off x="548640" y="274320"/>
            <a:ext cx="10972800" cy="731520"/>
          </a:xfrm>
          <a:prstGeom prst="rect">
            <a:avLst/>
          </a:prstGeom>
          <a:noFill/>
        </p:spPr>
        <p:txBody>
          <a:bodyPr wrap="square">
            <a:spAutoFit/>
          </a:bodyPr>
          <a:lstStyle/>
          <a:p>
            <a:pPr algn="l"/>
            <a:r>
              <a:rPr sz="3200" b="1" i="0">
                <a:solidFill>
                  <a:srgbClr val="FFFFFF"/>
                </a:solidFill>
              </a:rPr>
              <a:t>Financial Snapshot</a:t>
            </a:r>
          </a:p>
        </p:txBody>
      </p:sp>
      <p:sp>
        <p:nvSpPr>
          <p:cNvPr id="8" name="Rectangle 7"/>
          <p:cNvSpPr/>
          <p:nvPr/>
        </p:nvSpPr>
        <p:spPr>
          <a:xfrm>
            <a:off x="548640" y="1371600"/>
            <a:ext cx="3566160" cy="2194560"/>
          </a:xfrm>
          <a:prstGeom prst="rect">
            <a:avLst/>
          </a:prstGeom>
          <a:solidFill>
            <a:srgbClr val="1016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1371600"/>
            <a:ext cx="3566160" cy="54864"/>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31520" y="1645920"/>
            <a:ext cx="3200400" cy="822960"/>
          </a:xfrm>
          <a:prstGeom prst="rect">
            <a:avLst/>
          </a:prstGeom>
          <a:noFill/>
        </p:spPr>
        <p:txBody>
          <a:bodyPr wrap="square">
            <a:spAutoFit/>
          </a:bodyPr>
          <a:lstStyle/>
          <a:p>
            <a:pPr algn="ctr"/>
            <a:r>
              <a:rPr sz="3400" b="1" i="0">
                <a:solidFill>
                  <a:srgbClr val="C9A84C"/>
                </a:solidFill>
              </a:rPr>
              <a:t>$7.5M</a:t>
            </a:r>
          </a:p>
        </p:txBody>
      </p:sp>
      <p:sp>
        <p:nvSpPr>
          <p:cNvPr id="11" name="TextBox 10"/>
          <p:cNvSpPr txBox="1"/>
          <p:nvPr/>
        </p:nvSpPr>
        <p:spPr>
          <a:xfrm>
            <a:off x="731520" y="2468880"/>
            <a:ext cx="3200400" cy="822960"/>
          </a:xfrm>
          <a:prstGeom prst="rect">
            <a:avLst/>
          </a:prstGeom>
          <a:noFill/>
        </p:spPr>
        <p:txBody>
          <a:bodyPr wrap="square">
            <a:spAutoFit/>
          </a:bodyPr>
          <a:lstStyle/>
          <a:p>
            <a:pPr algn="ctr"/>
            <a:r>
              <a:rPr sz="1300" b="0" i="0">
                <a:solidFill>
                  <a:srgbClr val="D0D0D0"/>
                </a:solidFill>
              </a:rPr>
              <a:t>Total capital to
first profitable mission</a:t>
            </a:r>
          </a:p>
        </p:txBody>
      </p:sp>
      <p:sp>
        <p:nvSpPr>
          <p:cNvPr id="12" name="Rectangle 11"/>
          <p:cNvSpPr/>
          <p:nvPr/>
        </p:nvSpPr>
        <p:spPr>
          <a:xfrm>
            <a:off x="4343400" y="1371600"/>
            <a:ext cx="3566160" cy="2194560"/>
          </a:xfrm>
          <a:prstGeom prst="rect">
            <a:avLst/>
          </a:prstGeom>
          <a:solidFill>
            <a:srgbClr val="1016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343400" y="1371600"/>
            <a:ext cx="3566160" cy="54864"/>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26280" y="1645920"/>
            <a:ext cx="3200400" cy="822960"/>
          </a:xfrm>
          <a:prstGeom prst="rect">
            <a:avLst/>
          </a:prstGeom>
          <a:noFill/>
        </p:spPr>
        <p:txBody>
          <a:bodyPr wrap="square">
            <a:spAutoFit/>
          </a:bodyPr>
          <a:lstStyle/>
          <a:p>
            <a:pPr algn="ctr"/>
            <a:r>
              <a:rPr sz="3400" b="1" i="0">
                <a:solidFill>
                  <a:srgbClr val="C9A84C"/>
                </a:solidFill>
              </a:rPr>
              <a:t>Year 3</a:t>
            </a:r>
          </a:p>
        </p:txBody>
      </p:sp>
      <p:sp>
        <p:nvSpPr>
          <p:cNvPr id="15" name="TextBox 14"/>
          <p:cNvSpPr txBox="1"/>
          <p:nvPr/>
        </p:nvSpPr>
        <p:spPr>
          <a:xfrm>
            <a:off x="4526280" y="2468880"/>
            <a:ext cx="3200400" cy="822960"/>
          </a:xfrm>
          <a:prstGeom prst="rect">
            <a:avLst/>
          </a:prstGeom>
          <a:noFill/>
        </p:spPr>
        <p:txBody>
          <a:bodyPr wrap="square">
            <a:spAutoFit/>
          </a:bodyPr>
          <a:lstStyle/>
          <a:p>
            <a:pPr algn="ctr"/>
            <a:r>
              <a:rPr sz="1300" b="0" i="0">
                <a:solidFill>
                  <a:srgbClr val="D0D0D0"/>
                </a:solidFill>
              </a:rPr>
              <a:t>Break even
on first launch</a:t>
            </a:r>
          </a:p>
        </p:txBody>
      </p:sp>
      <p:sp>
        <p:nvSpPr>
          <p:cNvPr id="16" name="Rectangle 15"/>
          <p:cNvSpPr/>
          <p:nvPr/>
        </p:nvSpPr>
        <p:spPr>
          <a:xfrm>
            <a:off x="8138160" y="3840480"/>
            <a:ext cx="3566160" cy="2194560"/>
          </a:xfrm>
          <a:prstGeom prst="rect">
            <a:avLst/>
          </a:prstGeom>
          <a:solidFill>
            <a:srgbClr val="1016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138160" y="3840480"/>
            <a:ext cx="3566160" cy="54864"/>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321040" y="4114800"/>
            <a:ext cx="3200400" cy="822960"/>
          </a:xfrm>
          <a:prstGeom prst="rect">
            <a:avLst/>
          </a:prstGeom>
          <a:noFill/>
        </p:spPr>
        <p:txBody>
          <a:bodyPr wrap="square">
            <a:spAutoFit/>
          </a:bodyPr>
          <a:lstStyle/>
          <a:p>
            <a:pPr algn="ctr"/>
            <a:r>
              <a:rPr sz="3400" b="1" i="0">
                <a:solidFill>
                  <a:srgbClr val="C9A84C"/>
                </a:solidFill>
              </a:rPr>
              <a:t>$9.6M</a:t>
            </a:r>
          </a:p>
        </p:txBody>
      </p:sp>
      <p:sp>
        <p:nvSpPr>
          <p:cNvPr id="19" name="TextBox 18"/>
          <p:cNvSpPr txBox="1"/>
          <p:nvPr/>
        </p:nvSpPr>
        <p:spPr>
          <a:xfrm>
            <a:off x="8321040" y="4937760"/>
            <a:ext cx="3200400" cy="822960"/>
          </a:xfrm>
          <a:prstGeom prst="rect">
            <a:avLst/>
          </a:prstGeom>
          <a:noFill/>
        </p:spPr>
        <p:txBody>
          <a:bodyPr wrap="square">
            <a:spAutoFit/>
          </a:bodyPr>
          <a:lstStyle/>
          <a:p>
            <a:pPr algn="ctr"/>
            <a:r>
              <a:rPr sz="1300" b="0" i="0">
                <a:solidFill>
                  <a:srgbClr val="D0D0D0"/>
                </a:solidFill>
              </a:rPr>
              <a:t>Projected Year 5
revenue</a:t>
            </a:r>
          </a:p>
        </p:txBody>
      </p:sp>
      <p:sp>
        <p:nvSpPr>
          <p:cNvPr id="20" name="Rectangle 19"/>
          <p:cNvSpPr/>
          <p:nvPr/>
        </p:nvSpPr>
        <p:spPr>
          <a:xfrm>
            <a:off x="548640" y="3840480"/>
            <a:ext cx="3566160" cy="2194560"/>
          </a:xfrm>
          <a:prstGeom prst="rect">
            <a:avLst/>
          </a:prstGeom>
          <a:solidFill>
            <a:srgbClr val="1016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548640" y="3840480"/>
            <a:ext cx="3566160" cy="54864"/>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31520" y="4114800"/>
            <a:ext cx="3200400" cy="822960"/>
          </a:xfrm>
          <a:prstGeom prst="rect">
            <a:avLst/>
          </a:prstGeom>
          <a:noFill/>
        </p:spPr>
        <p:txBody>
          <a:bodyPr wrap="square">
            <a:spAutoFit/>
          </a:bodyPr>
          <a:lstStyle/>
          <a:p>
            <a:pPr algn="ctr"/>
            <a:r>
              <a:rPr sz="3400" b="1" i="0">
                <a:solidFill>
                  <a:srgbClr val="C9A84C"/>
                </a:solidFill>
              </a:rPr>
              <a:t>$3.1M</a:t>
            </a:r>
          </a:p>
        </p:txBody>
      </p:sp>
      <p:sp>
        <p:nvSpPr>
          <p:cNvPr id="23" name="TextBox 22"/>
          <p:cNvSpPr txBox="1"/>
          <p:nvPr/>
        </p:nvSpPr>
        <p:spPr>
          <a:xfrm>
            <a:off x="731520" y="4937760"/>
            <a:ext cx="3200400" cy="822960"/>
          </a:xfrm>
          <a:prstGeom prst="rect">
            <a:avLst/>
          </a:prstGeom>
          <a:noFill/>
        </p:spPr>
        <p:txBody>
          <a:bodyPr wrap="square">
            <a:spAutoFit/>
          </a:bodyPr>
          <a:lstStyle/>
          <a:p>
            <a:pPr algn="ctr"/>
            <a:r>
              <a:rPr sz="1300" b="0" i="0">
                <a:solidFill>
                  <a:srgbClr val="D0D0D0"/>
                </a:solidFill>
              </a:rPr>
              <a:t>Projected Year 5
net income</a:t>
            </a:r>
          </a:p>
        </p:txBody>
      </p:sp>
      <p:sp>
        <p:nvSpPr>
          <p:cNvPr id="24" name="Rectangle 23"/>
          <p:cNvSpPr/>
          <p:nvPr/>
        </p:nvSpPr>
        <p:spPr>
          <a:xfrm>
            <a:off x="4343400" y="6309360"/>
            <a:ext cx="3566160" cy="2194560"/>
          </a:xfrm>
          <a:prstGeom prst="rect">
            <a:avLst/>
          </a:prstGeom>
          <a:solidFill>
            <a:srgbClr val="1016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4343400" y="6309360"/>
            <a:ext cx="3566160" cy="54864"/>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526280" y="6583680"/>
            <a:ext cx="3200400" cy="822960"/>
          </a:xfrm>
          <a:prstGeom prst="rect">
            <a:avLst/>
          </a:prstGeom>
          <a:noFill/>
        </p:spPr>
        <p:txBody>
          <a:bodyPr wrap="square">
            <a:spAutoFit/>
          </a:bodyPr>
          <a:lstStyle/>
          <a:p>
            <a:pPr algn="ctr"/>
            <a:r>
              <a:rPr sz="3400" b="1" i="0">
                <a:solidFill>
                  <a:srgbClr val="C9A84C"/>
                </a:solidFill>
              </a:rPr>
              <a:t>20 to 60x</a:t>
            </a:r>
          </a:p>
        </p:txBody>
      </p:sp>
      <p:sp>
        <p:nvSpPr>
          <p:cNvPr id="27" name="TextBox 26"/>
          <p:cNvSpPr txBox="1"/>
          <p:nvPr/>
        </p:nvSpPr>
        <p:spPr>
          <a:xfrm>
            <a:off x="4526280" y="7406640"/>
            <a:ext cx="3200400" cy="822960"/>
          </a:xfrm>
          <a:prstGeom prst="rect">
            <a:avLst/>
          </a:prstGeom>
          <a:noFill/>
        </p:spPr>
        <p:txBody>
          <a:bodyPr wrap="square">
            <a:spAutoFit/>
          </a:bodyPr>
          <a:lstStyle/>
          <a:p>
            <a:pPr algn="ctr"/>
            <a:r>
              <a:rPr sz="1300" b="0" i="0">
                <a:solidFill>
                  <a:srgbClr val="D0D0D0"/>
                </a:solidFill>
              </a:rPr>
              <a:t>LTV to CAC ratio
(very strong)</a:t>
            </a:r>
          </a:p>
        </p:txBody>
      </p:sp>
      <p:sp>
        <p:nvSpPr>
          <p:cNvPr id="28" name="Rectangle 27"/>
          <p:cNvSpPr/>
          <p:nvPr/>
        </p:nvSpPr>
        <p:spPr>
          <a:xfrm>
            <a:off x="8138160" y="6309360"/>
            <a:ext cx="3566160" cy="2194560"/>
          </a:xfrm>
          <a:prstGeom prst="rect">
            <a:avLst/>
          </a:prstGeom>
          <a:solidFill>
            <a:srgbClr val="1016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8138160" y="6309360"/>
            <a:ext cx="3566160" cy="54864"/>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321040" y="6583680"/>
            <a:ext cx="3200400" cy="822960"/>
          </a:xfrm>
          <a:prstGeom prst="rect">
            <a:avLst/>
          </a:prstGeom>
          <a:noFill/>
        </p:spPr>
        <p:txBody>
          <a:bodyPr wrap="square">
            <a:spAutoFit/>
          </a:bodyPr>
          <a:lstStyle/>
          <a:p>
            <a:pPr algn="ctr"/>
            <a:r>
              <a:rPr sz="3400" b="1" i="0">
                <a:solidFill>
                  <a:srgbClr val="C9A84C"/>
                </a:solidFill>
              </a:rPr>
              <a:t>45%</a:t>
            </a:r>
          </a:p>
        </p:txBody>
      </p:sp>
      <p:sp>
        <p:nvSpPr>
          <p:cNvPr id="31" name="TextBox 30"/>
          <p:cNvSpPr txBox="1"/>
          <p:nvPr/>
        </p:nvSpPr>
        <p:spPr>
          <a:xfrm>
            <a:off x="8321040" y="7406640"/>
            <a:ext cx="3200400" cy="822960"/>
          </a:xfrm>
          <a:prstGeom prst="rect">
            <a:avLst/>
          </a:prstGeom>
          <a:noFill/>
        </p:spPr>
        <p:txBody>
          <a:bodyPr wrap="square">
            <a:spAutoFit/>
          </a:bodyPr>
          <a:lstStyle/>
          <a:p>
            <a:pPr algn="ctr"/>
            <a:r>
              <a:rPr sz="1300" b="0" i="0">
                <a:solidFill>
                  <a:srgbClr val="D0D0D0"/>
                </a:solidFill>
              </a:rPr>
              <a:t>Gross margin per
mission (base case)</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0A0F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73152" cy="6858000"/>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548640" y="1051560"/>
            <a:ext cx="11064240" cy="36576"/>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247120" y="6492240"/>
            <a:ext cx="731520" cy="274320"/>
          </a:xfrm>
          <a:prstGeom prst="rect">
            <a:avLst/>
          </a:prstGeom>
          <a:noFill/>
        </p:spPr>
        <p:txBody>
          <a:bodyPr wrap="square">
            <a:spAutoFit/>
          </a:bodyPr>
          <a:lstStyle/>
          <a:p>
            <a:pPr algn="r"/>
            <a:r>
              <a:rPr sz="900" b="0" i="0">
                <a:solidFill>
                  <a:srgbClr val="888899"/>
                </a:solidFill>
              </a:rPr>
              <a:t>10 / 12</a:t>
            </a:r>
          </a:p>
        </p:txBody>
      </p:sp>
      <p:sp>
        <p:nvSpPr>
          <p:cNvPr id="6" name="TextBox 5"/>
          <p:cNvSpPr txBox="1"/>
          <p:nvPr/>
        </p:nvSpPr>
        <p:spPr>
          <a:xfrm>
            <a:off x="548640" y="6492240"/>
            <a:ext cx="5486400" cy="274320"/>
          </a:xfrm>
          <a:prstGeom prst="rect">
            <a:avLst/>
          </a:prstGeom>
          <a:noFill/>
        </p:spPr>
        <p:txBody>
          <a:bodyPr wrap="square">
            <a:spAutoFit/>
          </a:bodyPr>
          <a:lstStyle/>
          <a:p>
            <a:pPr algn="l"/>
            <a:r>
              <a:rPr sz="900" b="0" i="0">
                <a:solidFill>
                  <a:srgbClr val="888899"/>
                </a:solidFill>
              </a:rPr>
              <a:t>SPACE CORPS  |  BEYOND EARTH</a:t>
            </a:r>
          </a:p>
        </p:txBody>
      </p:sp>
      <p:sp>
        <p:nvSpPr>
          <p:cNvPr id="7" name="TextBox 6"/>
          <p:cNvSpPr txBox="1"/>
          <p:nvPr/>
        </p:nvSpPr>
        <p:spPr>
          <a:xfrm>
            <a:off x="548640" y="274320"/>
            <a:ext cx="10972800" cy="731520"/>
          </a:xfrm>
          <a:prstGeom prst="rect">
            <a:avLst/>
          </a:prstGeom>
          <a:noFill/>
        </p:spPr>
        <p:txBody>
          <a:bodyPr wrap="square">
            <a:spAutoFit/>
          </a:bodyPr>
          <a:lstStyle/>
          <a:p>
            <a:pPr algn="l"/>
            <a:r>
              <a:rPr sz="3200" b="1" i="0">
                <a:solidFill>
                  <a:srgbClr val="FFFFFF"/>
                </a:solidFill>
              </a:rPr>
              <a:t>Development Roadmap</a:t>
            </a:r>
          </a:p>
        </p:txBody>
      </p:sp>
      <p:sp>
        <p:nvSpPr>
          <p:cNvPr id="8" name="Rectangle 7"/>
          <p:cNvSpPr/>
          <p:nvPr/>
        </p:nvSpPr>
        <p:spPr>
          <a:xfrm>
            <a:off x="548640" y="1371600"/>
            <a:ext cx="2697480" cy="5029200"/>
          </a:xfrm>
          <a:prstGeom prst="rect">
            <a:avLst/>
          </a:prstGeom>
          <a:solidFill>
            <a:srgbClr val="1016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1371600"/>
            <a:ext cx="2697480" cy="54864"/>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85800" y="1463040"/>
            <a:ext cx="2377440" cy="365760"/>
          </a:xfrm>
          <a:prstGeom prst="rect">
            <a:avLst/>
          </a:prstGeom>
          <a:noFill/>
        </p:spPr>
        <p:txBody>
          <a:bodyPr wrap="square">
            <a:spAutoFit/>
          </a:bodyPr>
          <a:lstStyle/>
          <a:p>
            <a:pPr algn="l"/>
            <a:r>
              <a:rPr sz="1100" b="1" i="0">
                <a:solidFill>
                  <a:srgbClr val="C9A84C"/>
                </a:solidFill>
              </a:rPr>
              <a:t>Phase 1</a:t>
            </a:r>
          </a:p>
        </p:txBody>
      </p:sp>
      <p:sp>
        <p:nvSpPr>
          <p:cNvPr id="11" name="TextBox 10"/>
          <p:cNvSpPr txBox="1"/>
          <p:nvPr/>
        </p:nvSpPr>
        <p:spPr>
          <a:xfrm>
            <a:off x="685800" y="1828800"/>
            <a:ext cx="2377440" cy="457200"/>
          </a:xfrm>
          <a:prstGeom prst="rect">
            <a:avLst/>
          </a:prstGeom>
          <a:noFill/>
        </p:spPr>
        <p:txBody>
          <a:bodyPr wrap="square">
            <a:spAutoFit/>
          </a:bodyPr>
          <a:lstStyle/>
          <a:p>
            <a:pPr algn="l"/>
            <a:r>
              <a:rPr sz="1400" b="1" i="0">
                <a:solidFill>
                  <a:srgbClr val="FFFFFF"/>
                </a:solidFill>
              </a:rPr>
              <a:t>Design Language</a:t>
            </a:r>
          </a:p>
        </p:txBody>
      </p:sp>
      <p:sp>
        <p:nvSpPr>
          <p:cNvPr id="12" name="TextBox 11"/>
          <p:cNvSpPr txBox="1"/>
          <p:nvPr/>
        </p:nvSpPr>
        <p:spPr>
          <a:xfrm>
            <a:off x="685800" y="2286000"/>
            <a:ext cx="2377440" cy="320040"/>
          </a:xfrm>
          <a:prstGeom prst="rect">
            <a:avLst/>
          </a:prstGeom>
          <a:noFill/>
        </p:spPr>
        <p:txBody>
          <a:bodyPr wrap="square">
            <a:spAutoFit/>
          </a:bodyPr>
          <a:lstStyle/>
          <a:p>
            <a:pPr algn="l"/>
            <a:r>
              <a:rPr sz="1000" b="0" i="1">
                <a:solidFill>
                  <a:srgbClr val="888899"/>
                </a:solidFill>
              </a:rPr>
              <a:t>Now to Month 6</a:t>
            </a:r>
          </a:p>
        </p:txBody>
      </p:sp>
      <p:sp>
        <p:nvSpPr>
          <p:cNvPr id="13" name="TextBox 12"/>
          <p:cNvSpPr txBox="1"/>
          <p:nvPr/>
        </p:nvSpPr>
        <p:spPr>
          <a:xfrm>
            <a:off x="685800" y="2743200"/>
            <a:ext cx="2377440" cy="457200"/>
          </a:xfrm>
          <a:prstGeom prst="rect">
            <a:avLst/>
          </a:prstGeom>
          <a:noFill/>
        </p:spPr>
        <p:txBody>
          <a:bodyPr wrap="square">
            <a:spAutoFit/>
          </a:bodyPr>
          <a:lstStyle/>
          <a:p>
            <a:pPr algn="l"/>
            <a:r>
              <a:rPr sz="1100" b="0" i="0">
                <a:solidFill>
                  <a:srgbClr val="D0D0D0"/>
                </a:solidFill>
              </a:rPr>
              <a:t>CAD complete</a:t>
            </a:r>
          </a:p>
        </p:txBody>
      </p:sp>
      <p:sp>
        <p:nvSpPr>
          <p:cNvPr id="14" name="TextBox 13"/>
          <p:cNvSpPr txBox="1"/>
          <p:nvPr/>
        </p:nvSpPr>
        <p:spPr>
          <a:xfrm>
            <a:off x="685800" y="3291840"/>
            <a:ext cx="2377440" cy="457200"/>
          </a:xfrm>
          <a:prstGeom prst="rect">
            <a:avLst/>
          </a:prstGeom>
          <a:noFill/>
        </p:spPr>
        <p:txBody>
          <a:bodyPr wrap="square">
            <a:spAutoFit/>
          </a:bodyPr>
          <a:lstStyle/>
          <a:p>
            <a:pPr algn="l"/>
            <a:r>
              <a:rPr sz="1100" b="0" i="0">
                <a:solidFill>
                  <a:srgbClr val="D0D0D0"/>
                </a:solidFill>
              </a:rPr>
              <a:t>Thermal architecture finalized</a:t>
            </a:r>
          </a:p>
        </p:txBody>
      </p:sp>
      <p:sp>
        <p:nvSpPr>
          <p:cNvPr id="15" name="TextBox 14"/>
          <p:cNvSpPr txBox="1"/>
          <p:nvPr/>
        </p:nvSpPr>
        <p:spPr>
          <a:xfrm>
            <a:off x="685800" y="3840480"/>
            <a:ext cx="2377440" cy="457200"/>
          </a:xfrm>
          <a:prstGeom prst="rect">
            <a:avLst/>
          </a:prstGeom>
          <a:noFill/>
        </p:spPr>
        <p:txBody>
          <a:bodyPr wrap="square">
            <a:spAutoFit/>
          </a:bodyPr>
          <a:lstStyle/>
          <a:p>
            <a:pPr algn="l"/>
            <a:r>
              <a:rPr sz="1100" b="0" i="0">
                <a:solidFill>
                  <a:srgbClr val="D0D0D0"/>
                </a:solidFill>
              </a:rPr>
              <a:t>Website and waitlist live</a:t>
            </a:r>
          </a:p>
        </p:txBody>
      </p:sp>
      <p:sp>
        <p:nvSpPr>
          <p:cNvPr id="16" name="TextBox 15"/>
          <p:cNvSpPr txBox="1"/>
          <p:nvPr/>
        </p:nvSpPr>
        <p:spPr>
          <a:xfrm>
            <a:off x="685800" y="4389120"/>
            <a:ext cx="2377440" cy="457200"/>
          </a:xfrm>
          <a:prstGeom prst="rect">
            <a:avLst/>
          </a:prstGeom>
          <a:noFill/>
        </p:spPr>
        <p:txBody>
          <a:bodyPr wrap="square">
            <a:spAutoFit/>
          </a:bodyPr>
          <a:lstStyle/>
          <a:p>
            <a:pPr algn="l"/>
            <a:r>
              <a:rPr sz="1100" b="0" i="0">
                <a:solidFill>
                  <a:srgbClr val="D0D0D0"/>
                </a:solidFill>
              </a:rPr>
              <a:t>Pitch materials ready</a:t>
            </a:r>
          </a:p>
        </p:txBody>
      </p:sp>
      <p:sp>
        <p:nvSpPr>
          <p:cNvPr id="17" name="Rectangle 16"/>
          <p:cNvSpPr/>
          <p:nvPr/>
        </p:nvSpPr>
        <p:spPr>
          <a:xfrm>
            <a:off x="548640" y="5943600"/>
            <a:ext cx="2697480" cy="365760"/>
          </a:xfrm>
          <a:prstGeom prst="rect">
            <a:avLst/>
          </a:prstGeom>
          <a:solidFill>
            <a:srgbClr val="0A18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85800" y="5961888"/>
            <a:ext cx="2377440" cy="320040"/>
          </a:xfrm>
          <a:prstGeom prst="rect">
            <a:avLst/>
          </a:prstGeom>
          <a:noFill/>
        </p:spPr>
        <p:txBody>
          <a:bodyPr wrap="square">
            <a:spAutoFit/>
          </a:bodyPr>
          <a:lstStyle/>
          <a:p>
            <a:pPr algn="ctr"/>
            <a:r>
              <a:rPr sz="1100" b="1" i="0">
                <a:solidFill>
                  <a:srgbClr val="C9A84C"/>
                </a:solidFill>
              </a:rPr>
              <a:t>$5k to $25k</a:t>
            </a:r>
          </a:p>
        </p:txBody>
      </p:sp>
      <p:sp>
        <p:nvSpPr>
          <p:cNvPr id="19" name="Rectangle 18"/>
          <p:cNvSpPr/>
          <p:nvPr/>
        </p:nvSpPr>
        <p:spPr>
          <a:xfrm>
            <a:off x="3447288" y="1371600"/>
            <a:ext cx="2697480" cy="5029200"/>
          </a:xfrm>
          <a:prstGeom prst="rect">
            <a:avLst/>
          </a:prstGeom>
          <a:solidFill>
            <a:srgbClr val="1016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3447288" y="1371600"/>
            <a:ext cx="2697480" cy="54864"/>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3584448" y="1463040"/>
            <a:ext cx="2377440" cy="365760"/>
          </a:xfrm>
          <a:prstGeom prst="rect">
            <a:avLst/>
          </a:prstGeom>
          <a:noFill/>
        </p:spPr>
        <p:txBody>
          <a:bodyPr wrap="square">
            <a:spAutoFit/>
          </a:bodyPr>
          <a:lstStyle/>
          <a:p>
            <a:pPr algn="l"/>
            <a:r>
              <a:rPr sz="1100" b="1" i="0">
                <a:solidFill>
                  <a:srgbClr val="C9A84C"/>
                </a:solidFill>
              </a:rPr>
              <a:t>Phase 2</a:t>
            </a:r>
          </a:p>
        </p:txBody>
      </p:sp>
      <p:sp>
        <p:nvSpPr>
          <p:cNvPr id="22" name="TextBox 21"/>
          <p:cNvSpPr txBox="1"/>
          <p:nvPr/>
        </p:nvSpPr>
        <p:spPr>
          <a:xfrm>
            <a:off x="3584448" y="1828800"/>
            <a:ext cx="2377440" cy="457200"/>
          </a:xfrm>
          <a:prstGeom prst="rect">
            <a:avLst/>
          </a:prstGeom>
          <a:noFill/>
        </p:spPr>
        <p:txBody>
          <a:bodyPr wrap="square">
            <a:spAutoFit/>
          </a:bodyPr>
          <a:lstStyle/>
          <a:p>
            <a:pPr algn="l"/>
            <a:r>
              <a:rPr sz="1400" b="1" i="0">
                <a:solidFill>
                  <a:srgbClr val="FFFFFF"/>
                </a:solidFill>
              </a:rPr>
              <a:t>Ground Prototype</a:t>
            </a:r>
          </a:p>
        </p:txBody>
      </p:sp>
      <p:sp>
        <p:nvSpPr>
          <p:cNvPr id="23" name="TextBox 22"/>
          <p:cNvSpPr txBox="1"/>
          <p:nvPr/>
        </p:nvSpPr>
        <p:spPr>
          <a:xfrm>
            <a:off x="3584448" y="2286000"/>
            <a:ext cx="2377440" cy="320040"/>
          </a:xfrm>
          <a:prstGeom prst="rect">
            <a:avLst/>
          </a:prstGeom>
          <a:noFill/>
        </p:spPr>
        <p:txBody>
          <a:bodyPr wrap="square">
            <a:spAutoFit/>
          </a:bodyPr>
          <a:lstStyle/>
          <a:p>
            <a:pPr algn="l"/>
            <a:r>
              <a:rPr sz="1000" b="0" i="1">
                <a:solidFill>
                  <a:srgbClr val="888899"/>
                </a:solidFill>
              </a:rPr>
              <a:t>Month 6 to 18</a:t>
            </a:r>
          </a:p>
        </p:txBody>
      </p:sp>
      <p:sp>
        <p:nvSpPr>
          <p:cNvPr id="24" name="TextBox 23"/>
          <p:cNvSpPr txBox="1"/>
          <p:nvPr/>
        </p:nvSpPr>
        <p:spPr>
          <a:xfrm>
            <a:off x="3584448" y="2743200"/>
            <a:ext cx="2377440" cy="457200"/>
          </a:xfrm>
          <a:prstGeom prst="rect">
            <a:avLst/>
          </a:prstGeom>
          <a:noFill/>
        </p:spPr>
        <p:txBody>
          <a:bodyPr wrap="square">
            <a:spAutoFit/>
          </a:bodyPr>
          <a:lstStyle/>
          <a:p>
            <a:pPr algn="l"/>
            <a:r>
              <a:rPr sz="1100" b="0" i="0">
                <a:solidFill>
                  <a:srgbClr val="D0D0D0"/>
                </a:solidFill>
              </a:rPr>
              <a:t>Vacuum chamber built</a:t>
            </a:r>
          </a:p>
        </p:txBody>
      </p:sp>
      <p:sp>
        <p:nvSpPr>
          <p:cNvPr id="25" name="TextBox 24"/>
          <p:cNvSpPr txBox="1"/>
          <p:nvPr/>
        </p:nvSpPr>
        <p:spPr>
          <a:xfrm>
            <a:off x="3584448" y="3291840"/>
            <a:ext cx="2377440" cy="457200"/>
          </a:xfrm>
          <a:prstGeom prst="rect">
            <a:avLst/>
          </a:prstGeom>
          <a:noFill/>
        </p:spPr>
        <p:txBody>
          <a:bodyPr wrap="square">
            <a:spAutoFit/>
          </a:bodyPr>
          <a:lstStyle/>
          <a:p>
            <a:pPr algn="l"/>
            <a:r>
              <a:rPr sz="1100" b="0" i="0">
                <a:solidFill>
                  <a:srgbClr val="D0D0D0"/>
                </a:solidFill>
              </a:rPr>
              <a:t>Cryocooler integrated</a:t>
            </a:r>
          </a:p>
        </p:txBody>
      </p:sp>
      <p:sp>
        <p:nvSpPr>
          <p:cNvPr id="26" name="TextBox 25"/>
          <p:cNvSpPr txBox="1"/>
          <p:nvPr/>
        </p:nvSpPr>
        <p:spPr>
          <a:xfrm>
            <a:off x="3584448" y="3840480"/>
            <a:ext cx="2377440" cy="457200"/>
          </a:xfrm>
          <a:prstGeom prst="rect">
            <a:avLst/>
          </a:prstGeom>
          <a:noFill/>
        </p:spPr>
        <p:txBody>
          <a:bodyPr wrap="square">
            <a:spAutoFit/>
          </a:bodyPr>
          <a:lstStyle/>
          <a:p>
            <a:pPr algn="l"/>
            <a:r>
              <a:rPr sz="1100" b="0" i="0">
                <a:solidFill>
                  <a:srgbClr val="D0D0D0"/>
                </a:solidFill>
              </a:rPr>
              <a:t>Thermal stability proven</a:t>
            </a:r>
          </a:p>
        </p:txBody>
      </p:sp>
      <p:sp>
        <p:nvSpPr>
          <p:cNvPr id="27" name="TextBox 26"/>
          <p:cNvSpPr txBox="1"/>
          <p:nvPr/>
        </p:nvSpPr>
        <p:spPr>
          <a:xfrm>
            <a:off x="3584448" y="4389120"/>
            <a:ext cx="2377440" cy="457200"/>
          </a:xfrm>
          <a:prstGeom prst="rect">
            <a:avLst/>
          </a:prstGeom>
          <a:noFill/>
        </p:spPr>
        <p:txBody>
          <a:bodyPr wrap="square">
            <a:spAutoFit/>
          </a:bodyPr>
          <a:lstStyle/>
          <a:p>
            <a:pPr algn="l"/>
            <a:r>
              <a:rPr sz="1100" b="0" i="0">
                <a:solidFill>
                  <a:srgbClr val="D0D0D0"/>
                </a:solidFill>
              </a:rPr>
              <a:t>Credibility established</a:t>
            </a:r>
          </a:p>
        </p:txBody>
      </p:sp>
      <p:sp>
        <p:nvSpPr>
          <p:cNvPr id="28" name="Rectangle 27"/>
          <p:cNvSpPr/>
          <p:nvPr/>
        </p:nvSpPr>
        <p:spPr>
          <a:xfrm>
            <a:off x="3447288" y="5943600"/>
            <a:ext cx="2697480" cy="365760"/>
          </a:xfrm>
          <a:prstGeom prst="rect">
            <a:avLst/>
          </a:prstGeom>
          <a:solidFill>
            <a:srgbClr val="0A18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3584448" y="5961888"/>
            <a:ext cx="2377440" cy="320040"/>
          </a:xfrm>
          <a:prstGeom prst="rect">
            <a:avLst/>
          </a:prstGeom>
          <a:noFill/>
        </p:spPr>
        <p:txBody>
          <a:bodyPr wrap="square">
            <a:spAutoFit/>
          </a:bodyPr>
          <a:lstStyle/>
          <a:p>
            <a:pPr algn="ctr"/>
            <a:r>
              <a:rPr sz="1100" b="1" i="0">
                <a:solidFill>
                  <a:srgbClr val="C9A84C"/>
                </a:solidFill>
              </a:rPr>
              <a:t>$25k to $100k</a:t>
            </a:r>
          </a:p>
        </p:txBody>
      </p:sp>
      <p:sp>
        <p:nvSpPr>
          <p:cNvPr id="30" name="Rectangle 29"/>
          <p:cNvSpPr/>
          <p:nvPr/>
        </p:nvSpPr>
        <p:spPr>
          <a:xfrm>
            <a:off x="6345936" y="1371600"/>
            <a:ext cx="2697480" cy="5029200"/>
          </a:xfrm>
          <a:prstGeom prst="rect">
            <a:avLst/>
          </a:prstGeom>
          <a:solidFill>
            <a:srgbClr val="1016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6345936" y="1371600"/>
            <a:ext cx="2697480" cy="54864"/>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483096" y="1463040"/>
            <a:ext cx="2377440" cy="365760"/>
          </a:xfrm>
          <a:prstGeom prst="rect">
            <a:avLst/>
          </a:prstGeom>
          <a:noFill/>
        </p:spPr>
        <p:txBody>
          <a:bodyPr wrap="square">
            <a:spAutoFit/>
          </a:bodyPr>
          <a:lstStyle/>
          <a:p>
            <a:pPr algn="l"/>
            <a:r>
              <a:rPr sz="1100" b="1" i="0">
                <a:solidFill>
                  <a:srgbClr val="C9A84C"/>
                </a:solidFill>
              </a:rPr>
              <a:t>Phase 3</a:t>
            </a:r>
          </a:p>
        </p:txBody>
      </p:sp>
      <p:sp>
        <p:nvSpPr>
          <p:cNvPr id="33" name="TextBox 32"/>
          <p:cNvSpPr txBox="1"/>
          <p:nvPr/>
        </p:nvSpPr>
        <p:spPr>
          <a:xfrm>
            <a:off x="6483096" y="1828800"/>
            <a:ext cx="2377440" cy="457200"/>
          </a:xfrm>
          <a:prstGeom prst="rect">
            <a:avLst/>
          </a:prstGeom>
          <a:noFill/>
        </p:spPr>
        <p:txBody>
          <a:bodyPr wrap="square">
            <a:spAutoFit/>
          </a:bodyPr>
          <a:lstStyle/>
          <a:p>
            <a:pPr algn="l"/>
            <a:r>
              <a:rPr sz="1400" b="1" i="0">
                <a:solidFill>
                  <a:srgbClr val="FFFFFF"/>
                </a:solidFill>
              </a:rPr>
              <a:t>Suborbital Demo</a:t>
            </a:r>
          </a:p>
        </p:txBody>
      </p:sp>
      <p:sp>
        <p:nvSpPr>
          <p:cNvPr id="34" name="TextBox 33"/>
          <p:cNvSpPr txBox="1"/>
          <p:nvPr/>
        </p:nvSpPr>
        <p:spPr>
          <a:xfrm>
            <a:off x="6483096" y="2286000"/>
            <a:ext cx="2377440" cy="320040"/>
          </a:xfrm>
          <a:prstGeom prst="rect">
            <a:avLst/>
          </a:prstGeom>
          <a:noFill/>
        </p:spPr>
        <p:txBody>
          <a:bodyPr wrap="square">
            <a:spAutoFit/>
          </a:bodyPr>
          <a:lstStyle/>
          <a:p>
            <a:pPr algn="l"/>
            <a:r>
              <a:rPr sz="1000" b="0" i="1">
                <a:solidFill>
                  <a:srgbClr val="888899"/>
                </a:solidFill>
              </a:rPr>
              <a:t>Month 18 to 30</a:t>
            </a:r>
          </a:p>
        </p:txBody>
      </p:sp>
      <p:sp>
        <p:nvSpPr>
          <p:cNvPr id="35" name="TextBox 34"/>
          <p:cNvSpPr txBox="1"/>
          <p:nvPr/>
        </p:nvSpPr>
        <p:spPr>
          <a:xfrm>
            <a:off x="6483096" y="2743200"/>
            <a:ext cx="2377440" cy="457200"/>
          </a:xfrm>
          <a:prstGeom prst="rect">
            <a:avLst/>
          </a:prstGeom>
          <a:noFill/>
        </p:spPr>
        <p:txBody>
          <a:bodyPr wrap="square">
            <a:spAutoFit/>
          </a:bodyPr>
          <a:lstStyle/>
          <a:p>
            <a:pPr algn="l"/>
            <a:r>
              <a:rPr sz="1100" b="0" i="0">
                <a:solidFill>
                  <a:srgbClr val="D0D0D0"/>
                </a:solidFill>
              </a:rPr>
              <a:t>Balloon or suborbital launch</a:t>
            </a:r>
          </a:p>
        </p:txBody>
      </p:sp>
      <p:sp>
        <p:nvSpPr>
          <p:cNvPr id="36" name="TextBox 35"/>
          <p:cNvSpPr txBox="1"/>
          <p:nvPr/>
        </p:nvSpPr>
        <p:spPr>
          <a:xfrm>
            <a:off x="6483096" y="3291840"/>
            <a:ext cx="2377440" cy="457200"/>
          </a:xfrm>
          <a:prstGeom prst="rect">
            <a:avLst/>
          </a:prstGeom>
          <a:noFill/>
        </p:spPr>
        <p:txBody>
          <a:bodyPr wrap="square">
            <a:spAutoFit/>
          </a:bodyPr>
          <a:lstStyle/>
          <a:p>
            <a:pPr algn="l"/>
            <a:r>
              <a:rPr sz="1100" b="0" i="0">
                <a:solidFill>
                  <a:srgbClr val="D0D0D0"/>
                </a:solidFill>
              </a:rPr>
              <a:t>Near space thermal validation</a:t>
            </a:r>
          </a:p>
        </p:txBody>
      </p:sp>
      <p:sp>
        <p:nvSpPr>
          <p:cNvPr id="37" name="TextBox 36"/>
          <p:cNvSpPr txBox="1"/>
          <p:nvPr/>
        </p:nvSpPr>
        <p:spPr>
          <a:xfrm>
            <a:off x="6483096" y="3840480"/>
            <a:ext cx="2377440" cy="457200"/>
          </a:xfrm>
          <a:prstGeom prst="rect">
            <a:avLst/>
          </a:prstGeom>
          <a:noFill/>
        </p:spPr>
        <p:txBody>
          <a:bodyPr wrap="square">
            <a:spAutoFit/>
          </a:bodyPr>
          <a:lstStyle/>
          <a:p>
            <a:pPr algn="l"/>
            <a:r>
              <a:rPr sz="1100" b="0" i="0">
                <a:solidFill>
                  <a:srgbClr val="D0D0D0"/>
                </a:solidFill>
              </a:rPr>
              <a:t>Press coverage and attention</a:t>
            </a:r>
          </a:p>
        </p:txBody>
      </p:sp>
      <p:sp>
        <p:nvSpPr>
          <p:cNvPr id="38" name="Rectangle 37"/>
          <p:cNvSpPr/>
          <p:nvPr/>
        </p:nvSpPr>
        <p:spPr>
          <a:xfrm>
            <a:off x="6345936" y="5943600"/>
            <a:ext cx="2697480" cy="365760"/>
          </a:xfrm>
          <a:prstGeom prst="rect">
            <a:avLst/>
          </a:prstGeom>
          <a:solidFill>
            <a:srgbClr val="0A18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6483096" y="5961888"/>
            <a:ext cx="2377440" cy="320040"/>
          </a:xfrm>
          <a:prstGeom prst="rect">
            <a:avLst/>
          </a:prstGeom>
          <a:noFill/>
        </p:spPr>
        <p:txBody>
          <a:bodyPr wrap="square">
            <a:spAutoFit/>
          </a:bodyPr>
          <a:lstStyle/>
          <a:p>
            <a:pPr algn="ctr"/>
            <a:r>
              <a:rPr sz="1100" b="1" i="0">
                <a:solidFill>
                  <a:srgbClr val="C9A84C"/>
                </a:solidFill>
              </a:rPr>
              <a:t>$50k to $200k</a:t>
            </a:r>
          </a:p>
        </p:txBody>
      </p:sp>
      <p:sp>
        <p:nvSpPr>
          <p:cNvPr id="40" name="Rectangle 39"/>
          <p:cNvSpPr/>
          <p:nvPr/>
        </p:nvSpPr>
        <p:spPr>
          <a:xfrm>
            <a:off x="9244584" y="1371600"/>
            <a:ext cx="2697480" cy="5029200"/>
          </a:xfrm>
          <a:prstGeom prst="rect">
            <a:avLst/>
          </a:prstGeom>
          <a:solidFill>
            <a:srgbClr val="1016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9244584" y="1371600"/>
            <a:ext cx="2697480" cy="54864"/>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9381744" y="1463040"/>
            <a:ext cx="2377440" cy="365760"/>
          </a:xfrm>
          <a:prstGeom prst="rect">
            <a:avLst/>
          </a:prstGeom>
          <a:noFill/>
        </p:spPr>
        <p:txBody>
          <a:bodyPr wrap="square">
            <a:spAutoFit/>
          </a:bodyPr>
          <a:lstStyle/>
          <a:p>
            <a:pPr algn="l"/>
            <a:r>
              <a:rPr sz="1100" b="1" i="0">
                <a:solidFill>
                  <a:srgbClr val="C9A84C"/>
                </a:solidFill>
              </a:rPr>
              <a:t>Phase 4</a:t>
            </a:r>
          </a:p>
        </p:txBody>
      </p:sp>
      <p:sp>
        <p:nvSpPr>
          <p:cNvPr id="43" name="TextBox 42"/>
          <p:cNvSpPr txBox="1"/>
          <p:nvPr/>
        </p:nvSpPr>
        <p:spPr>
          <a:xfrm>
            <a:off x="9381744" y="1828800"/>
            <a:ext cx="2377440" cy="457200"/>
          </a:xfrm>
          <a:prstGeom prst="rect">
            <a:avLst/>
          </a:prstGeom>
          <a:noFill/>
        </p:spPr>
        <p:txBody>
          <a:bodyPr wrap="square">
            <a:spAutoFit/>
          </a:bodyPr>
          <a:lstStyle/>
          <a:p>
            <a:pPr algn="l"/>
            <a:r>
              <a:rPr sz="1400" b="1" i="0">
                <a:solidFill>
                  <a:srgbClr val="FFFFFF"/>
                </a:solidFill>
              </a:rPr>
              <a:t>First Orbital Mission</a:t>
            </a:r>
          </a:p>
        </p:txBody>
      </p:sp>
      <p:sp>
        <p:nvSpPr>
          <p:cNvPr id="44" name="TextBox 43"/>
          <p:cNvSpPr txBox="1"/>
          <p:nvPr/>
        </p:nvSpPr>
        <p:spPr>
          <a:xfrm>
            <a:off x="9381744" y="2286000"/>
            <a:ext cx="2377440" cy="320040"/>
          </a:xfrm>
          <a:prstGeom prst="rect">
            <a:avLst/>
          </a:prstGeom>
          <a:noFill/>
        </p:spPr>
        <p:txBody>
          <a:bodyPr wrap="square">
            <a:spAutoFit/>
          </a:bodyPr>
          <a:lstStyle/>
          <a:p>
            <a:pPr algn="l"/>
            <a:r>
              <a:rPr sz="1000" b="0" i="1">
                <a:solidFill>
                  <a:srgbClr val="888899"/>
                </a:solidFill>
              </a:rPr>
              <a:t>Month 30 to 48</a:t>
            </a:r>
          </a:p>
        </p:txBody>
      </p:sp>
      <p:sp>
        <p:nvSpPr>
          <p:cNvPr id="45" name="TextBox 44"/>
          <p:cNvSpPr txBox="1"/>
          <p:nvPr/>
        </p:nvSpPr>
        <p:spPr>
          <a:xfrm>
            <a:off x="9381744" y="2743200"/>
            <a:ext cx="2377440" cy="457200"/>
          </a:xfrm>
          <a:prstGeom prst="rect">
            <a:avLst/>
          </a:prstGeom>
          <a:noFill/>
        </p:spPr>
        <p:txBody>
          <a:bodyPr wrap="square">
            <a:spAutoFit/>
          </a:bodyPr>
          <a:lstStyle/>
          <a:p>
            <a:pPr algn="l"/>
            <a:r>
              <a:rPr sz="1100" b="0" i="0">
                <a:solidFill>
                  <a:srgbClr val="D0D0D0"/>
                </a:solidFill>
              </a:rPr>
              <a:t>FAA license obtained</a:t>
            </a:r>
          </a:p>
        </p:txBody>
      </p:sp>
      <p:sp>
        <p:nvSpPr>
          <p:cNvPr id="46" name="TextBox 45"/>
          <p:cNvSpPr txBox="1"/>
          <p:nvPr/>
        </p:nvSpPr>
        <p:spPr>
          <a:xfrm>
            <a:off x="9381744" y="3291840"/>
            <a:ext cx="2377440" cy="457200"/>
          </a:xfrm>
          <a:prstGeom prst="rect">
            <a:avLst/>
          </a:prstGeom>
          <a:noFill/>
        </p:spPr>
        <p:txBody>
          <a:bodyPr wrap="square">
            <a:spAutoFit/>
          </a:bodyPr>
          <a:lstStyle/>
          <a:p>
            <a:pPr algn="l"/>
            <a:r>
              <a:rPr sz="1100" b="0" i="0">
                <a:solidFill>
                  <a:srgbClr val="D0D0D0"/>
                </a:solidFill>
              </a:rPr>
              <a:t>Rideshare booked</a:t>
            </a:r>
          </a:p>
        </p:txBody>
      </p:sp>
      <p:sp>
        <p:nvSpPr>
          <p:cNvPr id="47" name="TextBox 46"/>
          <p:cNvSpPr txBox="1"/>
          <p:nvPr/>
        </p:nvSpPr>
        <p:spPr>
          <a:xfrm>
            <a:off x="9381744" y="3840480"/>
            <a:ext cx="2377440" cy="457200"/>
          </a:xfrm>
          <a:prstGeom prst="rect">
            <a:avLst/>
          </a:prstGeom>
          <a:noFill/>
        </p:spPr>
        <p:txBody>
          <a:bodyPr wrap="square">
            <a:spAutoFit/>
          </a:bodyPr>
          <a:lstStyle/>
          <a:p>
            <a:pPr algn="l"/>
            <a:r>
              <a:rPr sz="1100" b="0" i="0">
                <a:solidFill>
                  <a:srgbClr val="D0D0D0"/>
                </a:solidFill>
              </a:rPr>
              <a:t>First payload launched</a:t>
            </a:r>
          </a:p>
        </p:txBody>
      </p:sp>
      <p:sp>
        <p:nvSpPr>
          <p:cNvPr id="48" name="TextBox 47"/>
          <p:cNvSpPr txBox="1"/>
          <p:nvPr/>
        </p:nvSpPr>
        <p:spPr>
          <a:xfrm>
            <a:off x="9381744" y="4389120"/>
            <a:ext cx="2377440" cy="457200"/>
          </a:xfrm>
          <a:prstGeom prst="rect">
            <a:avLst/>
          </a:prstGeom>
          <a:noFill/>
        </p:spPr>
        <p:txBody>
          <a:bodyPr wrap="square">
            <a:spAutoFit/>
          </a:bodyPr>
          <a:lstStyle/>
          <a:p>
            <a:pPr algn="l"/>
            <a:r>
              <a:rPr sz="1100" b="0" i="0">
                <a:solidFill>
                  <a:srgbClr val="D0D0D0"/>
                </a:solidFill>
              </a:rPr>
              <a:t>Live telemetry feed</a:t>
            </a:r>
          </a:p>
        </p:txBody>
      </p:sp>
      <p:sp>
        <p:nvSpPr>
          <p:cNvPr id="49" name="Rectangle 48"/>
          <p:cNvSpPr/>
          <p:nvPr/>
        </p:nvSpPr>
        <p:spPr>
          <a:xfrm>
            <a:off x="9244584" y="5943600"/>
            <a:ext cx="2697480" cy="365760"/>
          </a:xfrm>
          <a:prstGeom prst="rect">
            <a:avLst/>
          </a:prstGeom>
          <a:solidFill>
            <a:srgbClr val="0A18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9381744" y="5961888"/>
            <a:ext cx="2377440" cy="320040"/>
          </a:xfrm>
          <a:prstGeom prst="rect">
            <a:avLst/>
          </a:prstGeom>
          <a:noFill/>
        </p:spPr>
        <p:txBody>
          <a:bodyPr wrap="square">
            <a:spAutoFit/>
          </a:bodyPr>
          <a:lstStyle/>
          <a:p>
            <a:pPr algn="ctr"/>
            <a:r>
              <a:rPr sz="1100" b="1" i="0">
                <a:solidFill>
                  <a:srgbClr val="C9A84C"/>
                </a:solidFill>
              </a:rPr>
              <a:t>$1.5M to $3M</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0A0F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73152" cy="6858000"/>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548640" y="1051560"/>
            <a:ext cx="11064240" cy="36576"/>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247120" y="6492240"/>
            <a:ext cx="731520" cy="274320"/>
          </a:xfrm>
          <a:prstGeom prst="rect">
            <a:avLst/>
          </a:prstGeom>
          <a:noFill/>
        </p:spPr>
        <p:txBody>
          <a:bodyPr wrap="square">
            <a:spAutoFit/>
          </a:bodyPr>
          <a:lstStyle/>
          <a:p>
            <a:pPr algn="r"/>
            <a:r>
              <a:rPr sz="900" b="0" i="0">
                <a:solidFill>
                  <a:srgbClr val="888899"/>
                </a:solidFill>
              </a:rPr>
              <a:t>11 / 12</a:t>
            </a:r>
          </a:p>
        </p:txBody>
      </p:sp>
      <p:sp>
        <p:nvSpPr>
          <p:cNvPr id="6" name="TextBox 5"/>
          <p:cNvSpPr txBox="1"/>
          <p:nvPr/>
        </p:nvSpPr>
        <p:spPr>
          <a:xfrm>
            <a:off x="548640" y="6492240"/>
            <a:ext cx="5486400" cy="274320"/>
          </a:xfrm>
          <a:prstGeom prst="rect">
            <a:avLst/>
          </a:prstGeom>
          <a:noFill/>
        </p:spPr>
        <p:txBody>
          <a:bodyPr wrap="square">
            <a:spAutoFit/>
          </a:bodyPr>
          <a:lstStyle/>
          <a:p>
            <a:pPr algn="l"/>
            <a:r>
              <a:rPr sz="900" b="0" i="0">
                <a:solidFill>
                  <a:srgbClr val="888899"/>
                </a:solidFill>
              </a:rPr>
              <a:t>SPACE CORPS  |  BEYOND EARTH</a:t>
            </a:r>
          </a:p>
        </p:txBody>
      </p:sp>
      <p:sp>
        <p:nvSpPr>
          <p:cNvPr id="7" name="TextBox 6"/>
          <p:cNvSpPr txBox="1"/>
          <p:nvPr/>
        </p:nvSpPr>
        <p:spPr>
          <a:xfrm>
            <a:off x="548640" y="274320"/>
            <a:ext cx="10972800" cy="731520"/>
          </a:xfrm>
          <a:prstGeom prst="rect">
            <a:avLst/>
          </a:prstGeom>
          <a:noFill/>
        </p:spPr>
        <p:txBody>
          <a:bodyPr wrap="square">
            <a:spAutoFit/>
          </a:bodyPr>
          <a:lstStyle/>
          <a:p>
            <a:pPr algn="l"/>
            <a:r>
              <a:rPr sz="3200" b="1" i="0">
                <a:solidFill>
                  <a:srgbClr val="FFFFFF"/>
                </a:solidFill>
              </a:rPr>
              <a:t>Why Now</a:t>
            </a:r>
          </a:p>
        </p:txBody>
      </p:sp>
      <p:sp>
        <p:nvSpPr>
          <p:cNvPr id="8" name="TextBox 7"/>
          <p:cNvSpPr txBox="1"/>
          <p:nvPr/>
        </p:nvSpPr>
        <p:spPr>
          <a:xfrm>
            <a:off x="548640" y="1097280"/>
            <a:ext cx="10972800" cy="457200"/>
          </a:xfrm>
          <a:prstGeom prst="rect">
            <a:avLst/>
          </a:prstGeom>
          <a:noFill/>
        </p:spPr>
        <p:txBody>
          <a:bodyPr wrap="square">
            <a:spAutoFit/>
          </a:bodyPr>
          <a:lstStyle/>
          <a:p>
            <a:pPr algn="l"/>
            <a:r>
              <a:rPr sz="1600" b="0" i="1">
                <a:solidFill>
                  <a:srgbClr val="C9A84C"/>
                </a:solidFill>
              </a:rPr>
              <a:t>The technology window is open. The market is ready. No one else is doing this.</a:t>
            </a:r>
          </a:p>
        </p:txBody>
      </p:sp>
      <p:sp>
        <p:nvSpPr>
          <p:cNvPr id="9" name="Rectangle 8"/>
          <p:cNvSpPr/>
          <p:nvPr/>
        </p:nvSpPr>
        <p:spPr>
          <a:xfrm>
            <a:off x="548640" y="1828800"/>
            <a:ext cx="54864" cy="594360"/>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77240" y="1783080"/>
            <a:ext cx="3200400" cy="365760"/>
          </a:xfrm>
          <a:prstGeom prst="rect">
            <a:avLst/>
          </a:prstGeom>
          <a:noFill/>
        </p:spPr>
        <p:txBody>
          <a:bodyPr wrap="square">
            <a:spAutoFit/>
          </a:bodyPr>
          <a:lstStyle/>
          <a:p>
            <a:pPr algn="l"/>
            <a:r>
              <a:rPr sz="1300" b="1" i="0">
                <a:solidFill>
                  <a:srgbClr val="C9A84C"/>
                </a:solidFill>
              </a:rPr>
              <a:t>Launch Costs Have Collapsed</a:t>
            </a:r>
          </a:p>
        </p:txBody>
      </p:sp>
      <p:sp>
        <p:nvSpPr>
          <p:cNvPr id="11" name="TextBox 10"/>
          <p:cNvSpPr txBox="1"/>
          <p:nvPr/>
        </p:nvSpPr>
        <p:spPr>
          <a:xfrm>
            <a:off x="777240" y="2148840"/>
            <a:ext cx="10972800" cy="457200"/>
          </a:xfrm>
          <a:prstGeom prst="rect">
            <a:avLst/>
          </a:prstGeom>
          <a:noFill/>
        </p:spPr>
        <p:txBody>
          <a:bodyPr wrap="square">
            <a:spAutoFit/>
          </a:bodyPr>
          <a:lstStyle/>
          <a:p>
            <a:pPr algn="l"/>
            <a:r>
              <a:rPr sz="1200" b="0" i="0">
                <a:solidFill>
                  <a:srgbClr val="D0D0D0"/>
                </a:solidFill>
              </a:rPr>
              <a:t>SpaceX Falcon 9 rideshare is now $6,000 per kg. A decade ago this mission was impossible. Today it is expensive but fundable.</a:t>
            </a:r>
          </a:p>
        </p:txBody>
      </p:sp>
      <p:sp>
        <p:nvSpPr>
          <p:cNvPr id="12" name="Rectangle 11"/>
          <p:cNvSpPr/>
          <p:nvPr/>
        </p:nvSpPr>
        <p:spPr>
          <a:xfrm>
            <a:off x="548640" y="2788920"/>
            <a:ext cx="54864" cy="594360"/>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77240" y="2743200"/>
            <a:ext cx="3200400" cy="365760"/>
          </a:xfrm>
          <a:prstGeom prst="rect">
            <a:avLst/>
          </a:prstGeom>
          <a:noFill/>
        </p:spPr>
        <p:txBody>
          <a:bodyPr wrap="square">
            <a:spAutoFit/>
          </a:bodyPr>
          <a:lstStyle/>
          <a:p>
            <a:pPr algn="l"/>
            <a:r>
              <a:rPr sz="1300" b="1" i="0">
                <a:solidFill>
                  <a:srgbClr val="C9A84C"/>
                </a:solidFill>
              </a:rPr>
              <a:t>Cryocooler Technology Is Mature</a:t>
            </a:r>
          </a:p>
        </p:txBody>
      </p:sp>
      <p:sp>
        <p:nvSpPr>
          <p:cNvPr id="14" name="TextBox 13"/>
          <p:cNvSpPr txBox="1"/>
          <p:nvPr/>
        </p:nvSpPr>
        <p:spPr>
          <a:xfrm>
            <a:off x="777240" y="3108960"/>
            <a:ext cx="10972800" cy="457200"/>
          </a:xfrm>
          <a:prstGeom prst="rect">
            <a:avLst/>
          </a:prstGeom>
          <a:noFill/>
        </p:spPr>
        <p:txBody>
          <a:bodyPr wrap="square">
            <a:spAutoFit/>
          </a:bodyPr>
          <a:lstStyle/>
          <a:p>
            <a:pPr algn="l"/>
            <a:r>
              <a:rPr sz="1200" b="0" i="0">
                <a:solidFill>
                  <a:srgbClr val="D0D0D0"/>
                </a:solidFill>
              </a:rPr>
              <a:t>Pulse tube cryocoolers fly on operational satellites today. The hardware exists. It does not need to be invented.</a:t>
            </a:r>
          </a:p>
        </p:txBody>
      </p:sp>
      <p:sp>
        <p:nvSpPr>
          <p:cNvPr id="15" name="Rectangle 14"/>
          <p:cNvSpPr/>
          <p:nvPr/>
        </p:nvSpPr>
        <p:spPr>
          <a:xfrm>
            <a:off x="548640" y="3749039"/>
            <a:ext cx="54864" cy="594360"/>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77240" y="3703320"/>
            <a:ext cx="3200400" cy="365760"/>
          </a:xfrm>
          <a:prstGeom prst="rect">
            <a:avLst/>
          </a:prstGeom>
          <a:noFill/>
        </p:spPr>
        <p:txBody>
          <a:bodyPr wrap="square">
            <a:spAutoFit/>
          </a:bodyPr>
          <a:lstStyle/>
          <a:p>
            <a:pPr algn="l"/>
            <a:r>
              <a:rPr sz="1300" b="1" i="0">
                <a:solidFill>
                  <a:srgbClr val="C9A84C"/>
                </a:solidFill>
              </a:rPr>
              <a:t>Cryonics Community Is Growing</a:t>
            </a:r>
          </a:p>
        </p:txBody>
      </p:sp>
      <p:sp>
        <p:nvSpPr>
          <p:cNvPr id="17" name="TextBox 16"/>
          <p:cNvSpPr txBox="1"/>
          <p:nvPr/>
        </p:nvSpPr>
        <p:spPr>
          <a:xfrm>
            <a:off x="777240" y="4069080"/>
            <a:ext cx="10972800" cy="457200"/>
          </a:xfrm>
          <a:prstGeom prst="rect">
            <a:avLst/>
          </a:prstGeom>
          <a:noFill/>
        </p:spPr>
        <p:txBody>
          <a:bodyPr wrap="square">
            <a:spAutoFit/>
          </a:bodyPr>
          <a:lstStyle/>
          <a:p>
            <a:pPr algn="l"/>
            <a:r>
              <a:rPr sz="1200" b="0" i="0">
                <a:solidFill>
                  <a:srgbClr val="D0D0D0"/>
                </a:solidFill>
              </a:rPr>
              <a:t>Alcor has 1,400 members. The longevity, rationalist, and effective altruism communities are expanding rapidly. Demand is real.</a:t>
            </a:r>
          </a:p>
        </p:txBody>
      </p:sp>
      <p:sp>
        <p:nvSpPr>
          <p:cNvPr id="18" name="Rectangle 17"/>
          <p:cNvSpPr/>
          <p:nvPr/>
        </p:nvSpPr>
        <p:spPr>
          <a:xfrm>
            <a:off x="548640" y="4709160"/>
            <a:ext cx="54864" cy="594360"/>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77240" y="4663440"/>
            <a:ext cx="3200400" cy="365760"/>
          </a:xfrm>
          <a:prstGeom prst="rect">
            <a:avLst/>
          </a:prstGeom>
          <a:noFill/>
        </p:spPr>
        <p:txBody>
          <a:bodyPr wrap="square">
            <a:spAutoFit/>
          </a:bodyPr>
          <a:lstStyle/>
          <a:p>
            <a:pPr algn="l"/>
            <a:r>
              <a:rPr sz="1300" b="1" i="0">
                <a:solidFill>
                  <a:srgbClr val="C9A84C"/>
                </a:solidFill>
              </a:rPr>
              <a:t>No Competitor Is Building This</a:t>
            </a:r>
          </a:p>
        </p:txBody>
      </p:sp>
      <p:sp>
        <p:nvSpPr>
          <p:cNvPr id="20" name="TextBox 19"/>
          <p:cNvSpPr txBox="1"/>
          <p:nvPr/>
        </p:nvSpPr>
        <p:spPr>
          <a:xfrm>
            <a:off x="777240" y="5029200"/>
            <a:ext cx="10972800" cy="457200"/>
          </a:xfrm>
          <a:prstGeom prst="rect">
            <a:avLst/>
          </a:prstGeom>
          <a:noFill/>
        </p:spPr>
        <p:txBody>
          <a:bodyPr wrap="square">
            <a:spAutoFit/>
          </a:bodyPr>
          <a:lstStyle/>
          <a:p>
            <a:pPr algn="l"/>
            <a:r>
              <a:rPr sz="1200" b="0" i="0">
                <a:solidFill>
                  <a:srgbClr val="D0D0D0"/>
                </a:solidFill>
              </a:rPr>
              <a:t>Celestis and Elysium do ashes only. No organization on Earth is combining active cryopreservation with orbital storage.</a:t>
            </a:r>
          </a:p>
        </p:txBody>
      </p:sp>
      <p:sp>
        <p:nvSpPr>
          <p:cNvPr id="21" name="Rectangle 20"/>
          <p:cNvSpPr/>
          <p:nvPr/>
        </p:nvSpPr>
        <p:spPr>
          <a:xfrm>
            <a:off x="548640" y="5669279"/>
            <a:ext cx="54864" cy="594360"/>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77240" y="5623559"/>
            <a:ext cx="3200400" cy="365760"/>
          </a:xfrm>
          <a:prstGeom prst="rect">
            <a:avLst/>
          </a:prstGeom>
          <a:noFill/>
        </p:spPr>
        <p:txBody>
          <a:bodyPr wrap="square">
            <a:spAutoFit/>
          </a:bodyPr>
          <a:lstStyle/>
          <a:p>
            <a:pPr algn="l"/>
            <a:r>
              <a:rPr sz="1300" b="1" i="0">
                <a:solidFill>
                  <a:srgbClr val="C9A84C"/>
                </a:solidFill>
              </a:rPr>
              <a:t>The Regulatory Window Is Open</a:t>
            </a:r>
          </a:p>
        </p:txBody>
      </p:sp>
      <p:sp>
        <p:nvSpPr>
          <p:cNvPr id="23" name="TextBox 22"/>
          <p:cNvSpPr txBox="1"/>
          <p:nvPr/>
        </p:nvSpPr>
        <p:spPr>
          <a:xfrm>
            <a:off x="777240" y="5989320"/>
            <a:ext cx="10972800" cy="457200"/>
          </a:xfrm>
          <a:prstGeom prst="rect">
            <a:avLst/>
          </a:prstGeom>
          <a:noFill/>
        </p:spPr>
        <p:txBody>
          <a:bodyPr wrap="square">
            <a:spAutoFit/>
          </a:bodyPr>
          <a:lstStyle/>
          <a:p>
            <a:pPr algn="l"/>
            <a:r>
              <a:rPr sz="1200" b="0" i="0">
                <a:solidFill>
                  <a:srgbClr val="D0D0D0"/>
                </a:solidFill>
              </a:rPr>
              <a:t>There is no law prohibiting this. The FAA has approved biological payloads before. The pathway exists and is navigable now.</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0A0F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73152" cy="6858000"/>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548640" y="1051560"/>
            <a:ext cx="11064240" cy="36576"/>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247120" y="6492240"/>
            <a:ext cx="731520" cy="274320"/>
          </a:xfrm>
          <a:prstGeom prst="rect">
            <a:avLst/>
          </a:prstGeom>
          <a:noFill/>
        </p:spPr>
        <p:txBody>
          <a:bodyPr wrap="square">
            <a:spAutoFit/>
          </a:bodyPr>
          <a:lstStyle/>
          <a:p>
            <a:pPr algn="r"/>
            <a:r>
              <a:rPr sz="900" b="0" i="0">
                <a:solidFill>
                  <a:srgbClr val="888899"/>
                </a:solidFill>
              </a:rPr>
              <a:t>12 / 12</a:t>
            </a:r>
          </a:p>
        </p:txBody>
      </p:sp>
      <p:sp>
        <p:nvSpPr>
          <p:cNvPr id="6" name="TextBox 5"/>
          <p:cNvSpPr txBox="1"/>
          <p:nvPr/>
        </p:nvSpPr>
        <p:spPr>
          <a:xfrm>
            <a:off x="548640" y="6492240"/>
            <a:ext cx="5486400" cy="274320"/>
          </a:xfrm>
          <a:prstGeom prst="rect">
            <a:avLst/>
          </a:prstGeom>
          <a:noFill/>
        </p:spPr>
        <p:txBody>
          <a:bodyPr wrap="square">
            <a:spAutoFit/>
          </a:bodyPr>
          <a:lstStyle/>
          <a:p>
            <a:pPr algn="l"/>
            <a:r>
              <a:rPr sz="900" b="0" i="0">
                <a:solidFill>
                  <a:srgbClr val="888899"/>
                </a:solidFill>
              </a:rPr>
              <a:t>SPACE CORPS  |  BEYOND EARTH</a:t>
            </a:r>
          </a:p>
        </p:txBody>
      </p:sp>
      <p:sp>
        <p:nvSpPr>
          <p:cNvPr id="7" name="TextBox 6"/>
          <p:cNvSpPr txBox="1"/>
          <p:nvPr/>
        </p:nvSpPr>
        <p:spPr>
          <a:xfrm>
            <a:off x="548640" y="274320"/>
            <a:ext cx="10972800" cy="731520"/>
          </a:xfrm>
          <a:prstGeom prst="rect">
            <a:avLst/>
          </a:prstGeom>
          <a:noFill/>
        </p:spPr>
        <p:txBody>
          <a:bodyPr wrap="square">
            <a:spAutoFit/>
          </a:bodyPr>
          <a:lstStyle/>
          <a:p>
            <a:pPr algn="l"/>
            <a:r>
              <a:rPr sz="3200" b="1" i="0">
                <a:solidFill>
                  <a:srgbClr val="FFFFFF"/>
                </a:solidFill>
              </a:rPr>
              <a:t>The Ask</a:t>
            </a:r>
          </a:p>
        </p:txBody>
      </p:sp>
      <p:sp>
        <p:nvSpPr>
          <p:cNvPr id="8" name="TextBox 7"/>
          <p:cNvSpPr txBox="1"/>
          <p:nvPr/>
        </p:nvSpPr>
        <p:spPr>
          <a:xfrm>
            <a:off x="548640" y="1097280"/>
            <a:ext cx="10972800" cy="457200"/>
          </a:xfrm>
          <a:prstGeom prst="rect">
            <a:avLst/>
          </a:prstGeom>
          <a:noFill/>
        </p:spPr>
        <p:txBody>
          <a:bodyPr wrap="square">
            <a:spAutoFit/>
          </a:bodyPr>
          <a:lstStyle/>
          <a:p>
            <a:pPr algn="l"/>
            <a:r>
              <a:rPr sz="1600" b="0" i="1">
                <a:solidFill>
                  <a:srgbClr val="C9A84C"/>
                </a:solidFill>
              </a:rPr>
              <a:t>We are not asking Alcor to fund this. We are asking Alcor to be the preservation partner.</a:t>
            </a:r>
          </a:p>
        </p:txBody>
      </p:sp>
      <p:sp>
        <p:nvSpPr>
          <p:cNvPr id="9" name="Rectangle 8"/>
          <p:cNvSpPr/>
          <p:nvPr/>
        </p:nvSpPr>
        <p:spPr>
          <a:xfrm>
            <a:off x="548640" y="1828800"/>
            <a:ext cx="11064240" cy="1051560"/>
          </a:xfrm>
          <a:prstGeom prst="rect">
            <a:avLst/>
          </a:prstGeom>
          <a:solidFill>
            <a:srgbClr val="1016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828800"/>
            <a:ext cx="54864" cy="1051560"/>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1874519"/>
            <a:ext cx="3657600" cy="411480"/>
          </a:xfrm>
          <a:prstGeom prst="rect">
            <a:avLst/>
          </a:prstGeom>
          <a:noFill/>
        </p:spPr>
        <p:txBody>
          <a:bodyPr wrap="square">
            <a:spAutoFit/>
          </a:bodyPr>
          <a:lstStyle/>
          <a:p>
            <a:pPr algn="l"/>
            <a:r>
              <a:rPr sz="1300" b="1" i="0">
                <a:solidFill>
                  <a:srgbClr val="C9A84C"/>
                </a:solidFill>
              </a:rPr>
              <a:t>Preferred Partner Agreement</a:t>
            </a:r>
          </a:p>
        </p:txBody>
      </p:sp>
      <p:sp>
        <p:nvSpPr>
          <p:cNvPr id="12" name="TextBox 11"/>
          <p:cNvSpPr txBox="1"/>
          <p:nvPr/>
        </p:nvSpPr>
        <p:spPr>
          <a:xfrm>
            <a:off x="777240" y="2286000"/>
            <a:ext cx="10515600" cy="548640"/>
          </a:xfrm>
          <a:prstGeom prst="rect">
            <a:avLst/>
          </a:prstGeom>
          <a:noFill/>
        </p:spPr>
        <p:txBody>
          <a:bodyPr wrap="square">
            <a:spAutoFit/>
          </a:bodyPr>
          <a:lstStyle/>
          <a:p>
            <a:pPr algn="l"/>
            <a:r>
              <a:rPr sz="1150" b="0" i="0">
                <a:solidFill>
                  <a:srgbClr val="D0D0D0"/>
                </a:solidFill>
              </a:rPr>
              <a:t>Space Corps exclusively uses Alcor for the cryopreservation phase. Alcor performs all vitrification and transfers the patient to our spacecraft dewar. Alcor earns its standard preservation fee on every Space Corps mission.</a:t>
            </a:r>
          </a:p>
        </p:txBody>
      </p:sp>
      <p:sp>
        <p:nvSpPr>
          <p:cNvPr id="13" name="Rectangle 12"/>
          <p:cNvSpPr/>
          <p:nvPr/>
        </p:nvSpPr>
        <p:spPr>
          <a:xfrm>
            <a:off x="548640" y="3017520"/>
            <a:ext cx="11064240" cy="1051560"/>
          </a:xfrm>
          <a:prstGeom prst="rect">
            <a:avLst/>
          </a:prstGeom>
          <a:solidFill>
            <a:srgbClr val="1016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48640" y="3017520"/>
            <a:ext cx="54864" cy="1051560"/>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77240" y="3063239"/>
            <a:ext cx="3657600" cy="411480"/>
          </a:xfrm>
          <a:prstGeom prst="rect">
            <a:avLst/>
          </a:prstGeom>
          <a:noFill/>
        </p:spPr>
        <p:txBody>
          <a:bodyPr wrap="square">
            <a:spAutoFit/>
          </a:bodyPr>
          <a:lstStyle/>
          <a:p>
            <a:pPr algn="l"/>
            <a:r>
              <a:rPr sz="1300" b="1" i="0">
                <a:solidFill>
                  <a:srgbClr val="C9A84C"/>
                </a:solidFill>
              </a:rPr>
              <a:t>Co Branded Offering</a:t>
            </a:r>
          </a:p>
        </p:txBody>
      </p:sp>
      <p:sp>
        <p:nvSpPr>
          <p:cNvPr id="16" name="TextBox 15"/>
          <p:cNvSpPr txBox="1"/>
          <p:nvPr/>
        </p:nvSpPr>
        <p:spPr>
          <a:xfrm>
            <a:off x="777240" y="3474720"/>
            <a:ext cx="10515600" cy="548640"/>
          </a:xfrm>
          <a:prstGeom prst="rect">
            <a:avLst/>
          </a:prstGeom>
          <a:noFill/>
        </p:spPr>
        <p:txBody>
          <a:bodyPr wrap="square">
            <a:spAutoFit/>
          </a:bodyPr>
          <a:lstStyle/>
          <a:p>
            <a:pPr algn="l"/>
            <a:r>
              <a:rPr sz="1150" b="0" i="0">
                <a:solidFill>
                  <a:srgbClr val="D0D0D0"/>
                </a:solidFill>
              </a:rPr>
              <a:t>Space Corps Orbital Tier is marketed as an Alcor premium option. Alcor members can opt into orbital storage at signup. This expands Alcor's offering without any capital investment from Alcor.</a:t>
            </a:r>
          </a:p>
        </p:txBody>
      </p:sp>
      <p:sp>
        <p:nvSpPr>
          <p:cNvPr id="17" name="Rectangle 16"/>
          <p:cNvSpPr/>
          <p:nvPr/>
        </p:nvSpPr>
        <p:spPr>
          <a:xfrm>
            <a:off x="548640" y="4206240"/>
            <a:ext cx="11064240" cy="1051560"/>
          </a:xfrm>
          <a:prstGeom prst="rect">
            <a:avLst/>
          </a:prstGeom>
          <a:solidFill>
            <a:srgbClr val="1016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548640" y="4206240"/>
            <a:ext cx="54864" cy="1051560"/>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77240" y="4251959"/>
            <a:ext cx="3657600" cy="411480"/>
          </a:xfrm>
          <a:prstGeom prst="rect">
            <a:avLst/>
          </a:prstGeom>
          <a:noFill/>
        </p:spPr>
        <p:txBody>
          <a:bodyPr wrap="square">
            <a:spAutoFit/>
          </a:bodyPr>
          <a:lstStyle/>
          <a:p>
            <a:pPr algn="l"/>
            <a:r>
              <a:rPr sz="1300" b="1" i="0">
                <a:solidFill>
                  <a:srgbClr val="C9A84C"/>
                </a:solidFill>
              </a:rPr>
              <a:t>Scientific Collaboration</a:t>
            </a:r>
          </a:p>
        </p:txBody>
      </p:sp>
      <p:sp>
        <p:nvSpPr>
          <p:cNvPr id="20" name="TextBox 19"/>
          <p:cNvSpPr txBox="1"/>
          <p:nvPr/>
        </p:nvSpPr>
        <p:spPr>
          <a:xfrm>
            <a:off x="777240" y="4663440"/>
            <a:ext cx="10515600" cy="548640"/>
          </a:xfrm>
          <a:prstGeom prst="rect">
            <a:avLst/>
          </a:prstGeom>
          <a:noFill/>
        </p:spPr>
        <p:txBody>
          <a:bodyPr wrap="square">
            <a:spAutoFit/>
          </a:bodyPr>
          <a:lstStyle/>
          <a:p>
            <a:pPr algn="l"/>
            <a:r>
              <a:rPr sz="1150" b="0" i="0">
                <a:solidFill>
                  <a:srgbClr val="D0D0D0"/>
                </a:solidFill>
              </a:rPr>
              <a:t>Alcor's technical expertise in vitrification protocols, dewar design, and cryoprotectant application directly improves Space Corps mission quality. We want Alcor at the table as an engineering advisor.</a:t>
            </a:r>
          </a:p>
        </p:txBody>
      </p:sp>
      <p:sp>
        <p:nvSpPr>
          <p:cNvPr id="21" name="Rectangle 20"/>
          <p:cNvSpPr/>
          <p:nvPr/>
        </p:nvSpPr>
        <p:spPr>
          <a:xfrm>
            <a:off x="548640" y="5394960"/>
            <a:ext cx="11064240" cy="1051560"/>
          </a:xfrm>
          <a:prstGeom prst="rect">
            <a:avLst/>
          </a:prstGeom>
          <a:solidFill>
            <a:srgbClr val="1016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48640" y="5394960"/>
            <a:ext cx="54864" cy="1051560"/>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77240" y="5440680"/>
            <a:ext cx="3657600" cy="411480"/>
          </a:xfrm>
          <a:prstGeom prst="rect">
            <a:avLst/>
          </a:prstGeom>
          <a:noFill/>
        </p:spPr>
        <p:txBody>
          <a:bodyPr wrap="square">
            <a:spAutoFit/>
          </a:bodyPr>
          <a:lstStyle/>
          <a:p>
            <a:pPr algn="l"/>
            <a:r>
              <a:rPr sz="1300" b="1" i="0">
                <a:solidFill>
                  <a:srgbClr val="C9A84C"/>
                </a:solidFill>
              </a:rPr>
              <a:t>Member Referrals</a:t>
            </a:r>
          </a:p>
        </p:txBody>
      </p:sp>
      <p:sp>
        <p:nvSpPr>
          <p:cNvPr id="24" name="TextBox 23"/>
          <p:cNvSpPr txBox="1"/>
          <p:nvPr/>
        </p:nvSpPr>
        <p:spPr>
          <a:xfrm>
            <a:off x="777240" y="5852160"/>
            <a:ext cx="10515600" cy="548640"/>
          </a:xfrm>
          <a:prstGeom prst="rect">
            <a:avLst/>
          </a:prstGeom>
          <a:noFill/>
        </p:spPr>
        <p:txBody>
          <a:bodyPr wrap="square">
            <a:spAutoFit/>
          </a:bodyPr>
          <a:lstStyle/>
          <a:p>
            <a:pPr algn="l"/>
            <a:r>
              <a:rPr sz="1150" b="0" i="0">
                <a:solidFill>
                  <a:srgbClr val="D0D0D0"/>
                </a:solidFill>
              </a:rPr>
              <a:t>Alcor's existing 1,400 members and their networks are the highest quality leads for Space Corps. A formal referral arrangement benefits both organizations.</a:t>
            </a:r>
          </a:p>
        </p:txBody>
      </p:sp>
      <p:sp>
        <p:nvSpPr>
          <p:cNvPr id="25" name="TextBox 24"/>
          <p:cNvSpPr txBox="1"/>
          <p:nvPr/>
        </p:nvSpPr>
        <p:spPr>
          <a:xfrm>
            <a:off x="548640" y="6400800"/>
            <a:ext cx="11430000" cy="457200"/>
          </a:xfrm>
          <a:prstGeom prst="rect">
            <a:avLst/>
          </a:prstGeom>
          <a:noFill/>
        </p:spPr>
        <p:txBody>
          <a:bodyPr wrap="square">
            <a:spAutoFit/>
          </a:bodyPr>
          <a:lstStyle/>
          <a:p>
            <a:pPr algn="ctr"/>
            <a:r>
              <a:rPr sz="1100" b="0" i="1">
                <a:solidFill>
                  <a:srgbClr val="C9A84C"/>
                </a:solidFill>
              </a:rPr>
              <a:t>Together, Alcor and Space Corps can offer what no organization on Earth has ever offered:
the most permanent, most dignified, most scientifically credible preservation available to humanity.</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
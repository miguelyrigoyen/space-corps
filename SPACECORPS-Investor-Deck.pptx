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46120"/>
            <a:ext cx="5943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</a:rPr>
              <a:t>SPACE CORPS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</a:rPr>
              <a:t>The Orbital Cryogenic Preservation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0D0D0"/>
                </a:solidFill>
              </a:rPr>
              <a:t>Seed Round Investor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Raising $2,000,000  |  May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84C"/>
                </a:solidFill>
              </a:rPr>
              <a:t>Over 1,400 people have committed to cryopreservation. Every single one faces the same fatal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Institutional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Alcor must survive 100 to 500 years to fulfill its promise to every patient stored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Single Point of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One facility in Arizona holds 230 plus patients. One disaster, one bankruptcy, one government order ends everything.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Endless Consumables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Ground dewars require continuous liquid nitrogen resupply. The day the LN2 stops, the mission fails.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Jurisdiction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US courts can compel access. Future governments can mandate burial. No ground based facility is safe from this.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321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No Premium Option Exists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There is no upgrade path for cryonics patients who want something more permanent. The market is completely unserved.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An autonomous spacecraft that maintains cryogenic preservation indefinitely, with no organizational dependency.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Solar Powered Cryocooler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Active refrigeration using proven aerospace hardware. No LN2. No consumables. Runs as long as the Sun shines.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Heliocentric Orbit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Above all national airspace. No jurisdiction. No court order reaches orbit. Truly permanent.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Autonomous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Thermal control computer manages all systems. No staff needed after launch. Zero ongoing operational cost.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Proven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Pulse tube cryocoolers fly on satellites today. Deployable solar arrays are standard. This is assembly, not invention.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32120"/>
            <a:ext cx="54864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Life Insurance Funded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Members pay $200 to $600 per month in premiums. Space Corps is named as beneficiary. Revenue arrives at time of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A small autonomous cryogenic spacecraft. Real aerospace engineering, not a concept.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Thermal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60 layer MLI
5 layer sunshield
Emissivity below 0.002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6616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Active Cooling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Pulse tube cryocooler
80K to 150K range
Thales LPT 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56616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Power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300 to 500W solar arrays
28V lithium ion battery
Fully redundant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69079"/>
            <a:ext cx="356616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69079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Attitude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Reaction wheels
Sunshield Sun facing
Autonomous pointing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069079"/>
            <a:ext cx="356616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069079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663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S band radio
Real time health data
Public tracking feed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069079"/>
            <a:ext cx="356616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069079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Payload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63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Vitrified neuro or body
Eccofoam cradle
Shock isolated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47472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</a:rPr>
              <a:t>1,400+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0D0"/>
                </a:solidFill>
              </a:rPr>
              <a:t>Alcor members globally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Proven committed buyers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47472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4747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</a:rPr>
              <a:t>$500B+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0D0"/>
                </a:solidFill>
              </a:rPr>
              <a:t>Global longevity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Growing 25% per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347472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4747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0D0"/>
                </a:solidFill>
              </a:rPr>
              <a:t>Current competitors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No one is doing this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347472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34747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</a:rPr>
              <a:t>$295k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0D0"/>
                </a:solidFill>
              </a:rPr>
              <a:t>Avg revenue per 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Neuro heliocentric tier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749039"/>
            <a:ext cx="347472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931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</a:rPr>
              <a:t>20 to 60x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0915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0D0"/>
                </a:solidFill>
              </a:rPr>
              <a:t>LTV to CAC 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Exceptionally strong unit economics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749039"/>
            <a:ext cx="3474720" cy="210312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749039"/>
            <a:ext cx="34747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3931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</a:rPr>
              <a:t>$9.6M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70915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0D0"/>
                </a:solidFill>
              </a:rPr>
              <a:t>Year 5 projected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3 launches, 35 payloads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Life insurance funded. No revenue risk. Payment arrives only when service is delivered.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Preservation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Orbit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Insurance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1064240" cy="658368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7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6887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Low Earth Orbit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688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$195,000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~$115/mo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63239"/>
            <a:ext cx="11064240" cy="658368"/>
          </a:xfrm>
          <a:prstGeom prst="rect">
            <a:avLst/>
          </a:prstGeom>
          <a:solidFill>
            <a:srgbClr val="0E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039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2003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Heliocentric Orbit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0039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$295,000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39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~$175/mo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11064240" cy="658368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Low Earth Orbit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931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$450,000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31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~$265/mo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11064240" cy="658368"/>
          </a:xfrm>
          <a:prstGeom prst="rect">
            <a:avLst/>
          </a:prstGeom>
          <a:solidFill>
            <a:srgbClr val="0E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Body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663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Heliocentric Orbit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$750,000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663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~$440/mo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Revenue model: Space Corps is named beneficiary of member life insurance policy. Zero cash collected upfront.
Member monthly premium: $200 to $600. Space Corps revenue: $195,000 to $750,000 per patient at time of service.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Mission Break Even: 9 payloads at $275,000 average  |  Base Case: 10 payloads, $450,000 mission profit  |  Gross Margin: 45%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5 Year Financial Projections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417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Year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Year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Year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Year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20240"/>
            <a:ext cx="11064240" cy="621792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57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Members Enrolled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57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057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057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96896"/>
            <a:ext cx="11064240" cy="621792"/>
          </a:xfrm>
          <a:prstGeom prst="rect">
            <a:avLst/>
          </a:prstGeom>
          <a:solidFill>
            <a:srgbClr val="0E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340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Launches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734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734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340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7340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734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73552"/>
            <a:ext cx="11064240" cy="621792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107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Payloads Delivered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410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410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4107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4107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4107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50208"/>
            <a:ext cx="11064240" cy="621792"/>
          </a:xfrm>
          <a:prstGeom prst="rect">
            <a:avLst/>
          </a:prstGeom>
          <a:solidFill>
            <a:srgbClr val="0E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873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</a:rPr>
              <a:t>Revenue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087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$12,500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087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$40,000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0873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$2,750,000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0873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$6,050,000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087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$9,625,000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626864"/>
            <a:ext cx="11064240" cy="621792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7640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Operating Costs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476402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$350,000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76402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$600,000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76402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$2,300,000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76402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$4,200,000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47640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$6,500,000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303520"/>
            <a:ext cx="11064240" cy="621792"/>
          </a:xfrm>
          <a:prstGeom prst="rect">
            <a:avLst/>
          </a:prstGeom>
          <a:solidFill>
            <a:srgbClr val="0E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440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Net Income (Loss)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($337,500)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($560,000)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440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$450,000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5440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$1,850,000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5440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$3,125,000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980175"/>
            <a:ext cx="11064240" cy="621792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11733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Cumulative Cash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34640" y="611733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($337,500)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11733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($897,500)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61173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($447,500)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61173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$1,402,500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61173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$4,527,500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External capital required: $7.5M total  |  Break even: mid Year 3  |  Self funding from Year 3 onward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Traction and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We have not launched a spacecraft yet. But the foundation is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10512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73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Live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spacecorps.netlify.app is live with Stripe checkout, customer portal, admin dashboard, and waitlist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Stripe Checkout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End to end payment flow working. Test payments processing. Stripe webhooks saving to Supabase.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18688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93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Full reservation management dashboard with status tracking and customer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22776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R&amp;D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970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40 component spacecraft architecture with real aerospace specifications and vendor references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26864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Legal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011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Space law, cryonics law, corporate structure, and consumer protection analysis 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943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Alcor Outreach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05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Partnership pitch deck prepared. Meeting being requested with Alcor Life Extension Foundation.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35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9984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Financial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093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Full 5 year model with sensitivity analysis, mission economics, and funding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Competitive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Space Corps is the only organization combining active cryopreservation with orbital storage.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Active Cryo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Space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Jurisdiction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No Consumables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Premium 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31720"/>
            <a:ext cx="11064240" cy="713232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963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Alcor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4963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963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963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963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496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08960"/>
            <a:ext cx="11064240" cy="713232"/>
          </a:xfrm>
          <a:prstGeom prst="rect">
            <a:avLst/>
          </a:prstGeom>
          <a:solidFill>
            <a:srgbClr val="0E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735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Celestis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273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73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73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73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2735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A84C"/>
                </a:solidFill>
              </a:rPr>
              <a:t>Limited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86200"/>
            <a:ext cx="11064240" cy="713232"/>
          </a:xfrm>
          <a:prstGeom prst="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5079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Elysium 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05079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05079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5079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05079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050791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713232"/>
          </a:xfrm>
          <a:prstGeom prst="rect">
            <a:avLst/>
          </a:prstGeom>
          <a:solidFill>
            <a:srgbClr val="0E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2803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Nectome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82803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82803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2803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82803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4828031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40679"/>
            <a:ext cx="11064240" cy="713232"/>
          </a:xfrm>
          <a:prstGeom prst="rect">
            <a:avLst/>
          </a:prstGeom>
          <a:solidFill>
            <a:srgbClr val="08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60527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Space Corps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60527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60527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60527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60527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5605271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Go To Market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Three channels. All warm. All high intent. All pointing to the same underserved buyer.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66160" cy="457200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Channel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Cryonics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Alcor and CI members are already committed buyers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LessWrong and rationalist forums: 500k plus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Effective altruism and longevity networks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Cost: nearly zero. These people are already looking for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828800"/>
            <a:ext cx="3566160" cy="4572000"/>
          </a:xfrm>
          <a:prstGeom prst="rect">
            <a:avLst/>
          </a:prstGeom>
          <a:solidFill>
            <a:srgbClr val="10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82880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Channel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Longevity and Tech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This story is inherently viral: space burial meets cryonics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20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Target: MIT Tech Review, Wired, Bloomberg, podcasts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One major feature = tens of thousands of waitlist signups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92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Cost: PR outreach only.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566160" cy="4572000"/>
          </a:xfrm>
          <a:prstGeom prst="rect">
            <a:avLst/>
          </a:prstGeom>
          <a:solidFill>
            <a:srgbClr val="18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Channel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High Net Worth Direct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Target buyers: tech founders, scientists, transhumanists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520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Average income: $500k plus. Premium price is not a barrier.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206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Channels: family offices, estate planning attorneys, conferences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892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Cost: relationship driven, low CAC.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We are actively building the founding team. The following roles are defined and being recruited.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394960" cy="14630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Chief Executive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Vision, investor relations, Alcor partnership, business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737360"/>
            <a:ext cx="5394960" cy="14630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73736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Chief Technology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Spacecraft architecture, thermal systems, aerospace engineering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5394960" cy="14630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Chief Operating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Launch logistics, FAA compliance, operations, customer relations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5074920"/>
            <a:ext cx="5394960" cy="14630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507492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Aerospace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623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Detailed spacecraft design, component sourcing, ground prototype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8412480"/>
            <a:ext cx="5394960" cy="14630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841248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8503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Legal Counsel (Advisor)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8961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Space law, cryonics regulation, consumer protection, contracts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8412480"/>
            <a:ext cx="5394960" cy="14630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841248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8503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Cryonics Technical Advisor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8961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Vitrification protocols, dewar design, Alcor relationship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Raising $2,000,000 Seed Round. 18 months of runway to spacecraft prototype and FAA engagement.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37160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</a:rPr>
              <a:t>40%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783080"/>
            <a:ext cx="1371600" cy="685800"/>
          </a:xfrm>
          <a:prstGeom prst="rect">
            <a:avLst/>
          </a:prstGeom>
          <a:solidFill>
            <a:srgbClr val="0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$800,000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737360"/>
            <a:ext cx="809244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Spacecraft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48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Thermal vacuum testing, cryocooler sourcing, ground prototype, engineering contracts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137160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974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</a:rPr>
              <a:t>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697479"/>
            <a:ext cx="1371600" cy="685800"/>
          </a:xfrm>
          <a:prstGeom prst="rect">
            <a:avLst/>
          </a:prstGeom>
          <a:solidFill>
            <a:srgbClr val="0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$400,000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651760"/>
            <a:ext cx="809244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697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Team and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063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CTO hire, aerospace engineering staff, office and lab infrastructure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66160"/>
            <a:ext cx="137160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11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</a:rPr>
              <a:t>15%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611879"/>
            <a:ext cx="1371600" cy="685800"/>
          </a:xfrm>
          <a:prstGeom prst="rect">
            <a:avLst/>
          </a:prstGeom>
          <a:solidFill>
            <a:srgbClr val="0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$300,000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566160"/>
            <a:ext cx="809244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6118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Legal and Regulatory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97763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FAA engagement, space law, consumer protection, trademark, member contracts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137160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</a:rPr>
              <a:t>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4526280"/>
            <a:ext cx="1371600" cy="685800"/>
          </a:xfrm>
          <a:prstGeom prst="rect">
            <a:avLst/>
          </a:prstGeom>
          <a:solidFill>
            <a:srgbClr val="0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$300,000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4480560"/>
            <a:ext cx="809244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Marketing and Community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8920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PR campaign, cryonics community outreach, waitlist growth, brand building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94960"/>
            <a:ext cx="137160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5440680"/>
            <a:ext cx="1371600" cy="685800"/>
          </a:xfrm>
          <a:prstGeom prst="rect">
            <a:avLst/>
          </a:prstGeom>
          <a:solidFill>
            <a:srgbClr val="0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$200,000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5394960"/>
            <a:ext cx="8092440" cy="7772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Reserve and Contingency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8064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</a:rPr>
              <a:t>Buffer for hardware overruns, regulatory delays, or extended runway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SPACE CORPS  |  INVESTOR PRESENTATION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</a:rPr>
              <a:t>We are raising $2,000,000 to build the ground prototype and reach the orbital demonstration milestone.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64240" cy="1920240"/>
          </a:xfrm>
          <a:prstGeom prst="rect">
            <a:avLst/>
          </a:prstGeom>
          <a:solidFill>
            <a:srgbClr val="08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ECC71"/>
                </a:solidFill>
              </a:rPr>
              <a:t>$2,000,000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84C"/>
                </a:solidFill>
              </a:rPr>
              <a:t>Seed Round  |  18 Months Runway  |  Prototype to Suborbital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3566160" cy="10058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Ground thermal prototype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840480"/>
            <a:ext cx="3566160" cy="10058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84048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Month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Vacuum testing validated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5029200"/>
            <a:ext cx="3566160" cy="10058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502920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5120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Month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440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FAA payload review initiated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3566160" cy="10058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Month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Alcor partnership agreement signed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6217920"/>
            <a:ext cx="3566160" cy="10058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621792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6309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Month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629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Suborbital demonstration flight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6217920"/>
            <a:ext cx="3566160" cy="1005840"/>
          </a:xfrm>
          <a:prstGeom prst="rect">
            <a:avLst/>
          </a:prstGeom>
          <a:solidFill>
            <a:srgbClr val="10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6217920"/>
            <a:ext cx="35661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6309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Month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6629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Series A raise begins for orbital 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spacecorps.netlify.app  |  Contact: miguelandresyrigoyen@gmail.com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